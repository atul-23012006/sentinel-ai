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778240" y="0"/>
            <a:ext cx="3413455" cy="6858000"/>
          </a:xfrm>
          <a:prstGeom prst="rect">
            <a:avLst/>
          </a:prstGeom>
          <a:solidFill>
            <a:srgbClr val="142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92640" y="-1097280"/>
            <a:ext cx="3840480" cy="3840480"/>
          </a:xfrm>
          <a:prstGeom prst="ellipse">
            <a:avLst/>
          </a:prstGeom>
          <a:solidFill>
            <a:srgbClr val="14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4389120"/>
            <a:ext cx="2926080" cy="2926080"/>
          </a:xfrm>
          <a:prstGeom prst="ellipse">
            <a:avLst/>
          </a:prstGeom>
          <a:solidFill>
            <a:srgbClr val="028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4D8"/>
                </a:solidFill>
                <a:latin typeface="Calibri"/>
              </a:rPr>
              <a:t>CBS3002 · INFORMATION SECURITY — COURSE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7863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Calibri"/>
              </a:rPr>
              <a:t>SentinelAI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CFDBEE"/>
                </a:solidFill>
                <a:latin typeface="Calibri"/>
              </a:rPr>
              <a:t>AI-Powered Adaptive Access Control &amp;</a:t>
            </a:r>
          </a:p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CFDBEE"/>
                </a:solidFill>
                <a:latin typeface="Calibri"/>
              </a:rPr>
              <a:t>Insider Threat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2377440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4D8"/>
                </a:solidFill>
                <a:latin typeface="Calibri"/>
              </a:rPr>
              <a:t>TEAM MEMBERS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60520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Atul Bharadwaj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4178807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42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00B4D8"/>
                </a:solidFill>
                <a:latin typeface="Calibri"/>
              </a:rPr>
              <a:t>24BBS0007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9087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Mayank Nitin Sarode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4709159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42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00B4D8"/>
                </a:solidFill>
                <a:latin typeface="Calibri"/>
              </a:rPr>
              <a:t>24BBS0096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221224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Sai Lokesh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5239512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42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00B4D8"/>
                </a:solidFill>
                <a:latin typeface="Calibri"/>
              </a:rPr>
              <a:t>24BBS0114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9FB1CC"/>
                </a:solidFill>
                <a:latin typeface="Calibri"/>
              </a:rPr>
              <a:t>Hybrid Policy Engine  ·  Behavioral Analytics  ·  Adaptive Security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THE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is SentinelAI?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02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6766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B1F2A"/>
                </a:solidFill>
                <a:latin typeface="Calibri"/>
              </a:rPr>
              <a:t>An intelligent enterprise security platform that combines hybrid access-control policies with machine-learning behavioral anomaly detection to identify suspicious activity from authorized or compromised users.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97480"/>
            <a:ext cx="6766560" cy="12344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/>
          <a:lstStyle/>
          <a:p>
            <a:pPr algn="ctr"/>
            <a:r>
              <a:rPr sz="1500" i="1">
                <a:solidFill>
                  <a:srgbClr val="FFFFFF"/>
                </a:solidFill>
                <a:latin typeface="Calibri"/>
              </a:rPr>
              <a:t>“Authorization determines whether access is permitted by policy;</a:t>
            </a:r>
          </a:p>
          <a:p>
            <a:r>
              <a:rPr sz="1500" i="1" b="1">
                <a:solidFill>
                  <a:srgbClr val="00B4D8"/>
                </a:solidFill>
                <a:latin typeface="Calibri"/>
              </a:rPr>
              <a:t>behavioral risk determines whether the activity requires additional controls.”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60520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SentinelAI COMBINES: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26280"/>
            <a:ext cx="67665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 b="0">
                <a:solidFill>
                  <a:srgbClr val="1B1F2A"/>
                </a:solidFill>
                <a:latin typeface="Calibri"/>
              </a:rPr>
              <a:t>•  Authentication &amp; identity management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 b="0">
                <a:solidFill>
                  <a:srgbClr val="1B1F2A"/>
                </a:solidFill>
                <a:latin typeface="Calibri"/>
              </a:rPr>
              <a:t>•  Hybrid access control (RBAC + MAC + ABAC + TBAC)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 b="0">
                <a:solidFill>
                  <a:srgbClr val="1B1F2A"/>
                </a:solidFill>
                <a:latin typeface="Calibri"/>
              </a:rPr>
              <a:t>•  Behavioral monitoring &amp; centralized auditing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 b="0">
                <a:solidFill>
                  <a:srgbClr val="1B1F2A"/>
                </a:solidFill>
                <a:latin typeface="Calibri"/>
              </a:rPr>
              <a:t>•  ML-based anomaly detection → risk scoring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 b="0">
                <a:solidFill>
                  <a:srgbClr val="1B1F2A"/>
                </a:solidFill>
                <a:latin typeface="Calibri"/>
              </a:rPr>
              <a:t>•  Adaptive security responses (Allow / MFA / Block)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1417320"/>
            <a:ext cx="4023360" cy="566928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Identity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2093976"/>
            <a:ext cx="4023360" cy="566928"/>
          </a:xfrm>
          <a:prstGeom prst="roundRect">
            <a:avLst>
              <a:gd name="adj" fmla="val 10000"/>
            </a:avLst>
          </a:prstGeom>
          <a:solidFill>
            <a:srgbClr val="142B4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Access Policy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2770632"/>
            <a:ext cx="4023360" cy="566928"/>
          </a:xfrm>
          <a:prstGeom prst="roundRect">
            <a:avLst>
              <a:gd name="adj" fmla="val 10000"/>
            </a:avLst>
          </a:prstGeom>
          <a:solidFill>
            <a:srgbClr val="028AA8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447288"/>
            <a:ext cx="4023360" cy="566928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Historical Behavior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46920.0" y="4078224"/>
            <a:ext cx="0.0" cy="301752"/>
          </a:xfrm>
          <a:prstGeom prst="line">
            <a:avLst/>
          </a:prstGeom>
          <a:ln w="28575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635240" y="4416552"/>
            <a:ext cx="4023360" cy="566928"/>
          </a:xfrm>
          <a:prstGeom prst="roundRect">
            <a:avLst>
              <a:gd name="adj" fmla="val 10000"/>
            </a:avLst>
          </a:prstGeom>
          <a:solidFill>
            <a:srgbClr val="F2A619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0B1F3A"/>
                </a:solidFill>
                <a:latin typeface="Calibri"/>
              </a:rPr>
              <a:t>Risk Analysis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46920.0" y="5020056"/>
            <a:ext cx="0.0" cy="274320"/>
          </a:xfrm>
          <a:prstGeom prst="line">
            <a:avLst/>
          </a:prstGeom>
          <a:ln w="28575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635240" y="5330952"/>
            <a:ext cx="4023360" cy="566928"/>
          </a:xfrm>
          <a:prstGeom prst="roundRect">
            <a:avLst>
              <a:gd name="adj" fmla="val 10000"/>
            </a:avLst>
          </a:prstGeom>
          <a:solidFill>
            <a:srgbClr val="E63946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Adaptive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Why We Chose This Topic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03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02920" cy="868680"/>
          </a:xfrm>
          <a:prstGeom prst="roundRect">
            <a:avLst>
              <a:gd name="adj" fmla="val 2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02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99032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1F3A"/>
                </a:solidFill>
                <a:latin typeface="Calibri"/>
              </a:rPr>
              <a:t>Real-world relevance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73736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46E7C"/>
                </a:solidFill>
                <a:latin typeface="Calibri"/>
              </a:rPr>
              <a:t>Credential compromise &amp; insider misuse are leading causes of breaches; static RBAC alone cannot catch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77440"/>
            <a:ext cx="502920" cy="868680"/>
          </a:xfrm>
          <a:prstGeom prst="roundRect">
            <a:avLst>
              <a:gd name="adj" fmla="val 25000"/>
            </a:avLst>
          </a:prstGeom>
          <a:solidFill>
            <a:srgbClr val="028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77440"/>
            <a:ext cx="502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9152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1F3A"/>
                </a:solidFill>
                <a:latin typeface="Calibri"/>
              </a:rPr>
              <a:t>Gap in traditional systems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9748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46E7C"/>
                </a:solidFill>
                <a:latin typeface="Calibri"/>
              </a:rPr>
              <a:t>Classic RBAC/MAC/ABAC answer “is this allowed?”, never “is this behavior safe right now?”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37560"/>
            <a:ext cx="502920" cy="868680"/>
          </a:xfrm>
          <a:prstGeom prst="roundRect">
            <a:avLst>
              <a:gd name="adj" fmla="val 25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37560"/>
            <a:ext cx="502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319272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1F3A"/>
                </a:solidFill>
                <a:latin typeface="Calibri"/>
              </a:rPr>
              <a:t>Breadth of CBS3002 syllabus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65760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46E7C"/>
                </a:solidFill>
                <a:latin typeface="Calibri"/>
              </a:rPr>
              <a:t>Lets us apply access-control models, hybrid policies, auditing, IDS and DB security in one integrated system.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297680"/>
            <a:ext cx="502920" cy="868680"/>
          </a:xfrm>
          <a:prstGeom prst="roundRect">
            <a:avLst>
              <a:gd name="adj" fmla="val 25000"/>
            </a:avLst>
          </a:prstGeom>
          <a:solidFill>
            <a:srgbClr val="F2A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297680"/>
            <a:ext cx="502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279392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1F3A"/>
                </a:solidFill>
                <a:latin typeface="Calibri"/>
              </a:rPr>
              <a:t>Practical ML application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61772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46E7C"/>
                </a:solidFill>
                <a:latin typeface="Calibri"/>
              </a:rPr>
              <a:t>A genuine, well-scoped use case for anomaly detection rather than ML bolted onto a CRUD app.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57800"/>
            <a:ext cx="502920" cy="868680"/>
          </a:xfrm>
          <a:prstGeom prst="roundRect">
            <a:avLst>
              <a:gd name="adj" fmla="val 25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257800"/>
            <a:ext cx="502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239512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1F3A"/>
                </a:solidFill>
                <a:latin typeface="Calibri"/>
              </a:rPr>
              <a:t>Resume-worthy &amp; extensible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57784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46E7C"/>
                </a:solidFill>
                <a:latin typeface="Calibri"/>
              </a:rPr>
              <a:t>Combines backend engineering, security architecture, and applied ML — a strong, demo-able portfolio project.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04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6035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1B1F2A"/>
                </a:solidFill>
                <a:latin typeface="Calibri"/>
              </a:rPr>
              <a:t>Static authorization (RBAC / MAC / ABAC) only verifies that a user holds valid, permitted credentials — it cannot tell whether the current activity of that account is actually safe.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63946"/>
                </a:solidFill>
                <a:latin typeface="Calibri"/>
              </a:rPr>
              <a:t>CORE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97480"/>
            <a:ext cx="60350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0">
                <a:solidFill>
                  <a:srgbClr val="E63946"/>
                </a:solidFill>
                <a:latin typeface="Calibri"/>
              </a:rPr>
              <a:t>•  A legitimate account can be compromised (stolen credentials).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0">
                <a:solidFill>
                  <a:srgbClr val="E63946"/>
                </a:solidFill>
                <a:latin typeface="Calibri"/>
              </a:rPr>
              <a:t>•  An authorized employee may abuse legitimate privileges.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0">
                <a:solidFill>
                  <a:srgbClr val="E63946"/>
                </a:solidFill>
                <a:latin typeface="Calibri"/>
              </a:rPr>
              <a:t>•  Valid credentials + valid role = requests keep getting ALLOWED even when behavior is highly anomalous.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0">
                <a:solidFill>
                  <a:srgbClr val="E63946"/>
                </a:solidFill>
                <a:latin typeface="Calibri"/>
              </a:rPr>
              <a:t>•  No behavioral context, no risk signal, no adaptive response → damage (data exfiltration, privilege abuse) goes undetected until too late.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325880"/>
            <a:ext cx="4800600" cy="41148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Example: an “allowed” account, 7 minutes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192938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6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1874519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Calibri"/>
              </a:rPr>
              <a:t>02:13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1874519"/>
            <a:ext cx="3749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1F2A"/>
                </a:solidFill>
                <a:latin typeface="Calibri"/>
              </a:rPr>
              <a:t>Login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67728" y="2075688"/>
            <a:ext cx="0" cy="310896"/>
          </a:xfrm>
          <a:prstGeom prst="line">
            <a:avLst/>
          </a:prstGeom>
          <a:ln w="19050">
            <a:solidFill>
              <a:srgbClr val="DDE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903720" y="240487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2A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235000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Calibri"/>
              </a:rPr>
              <a:t>02:14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350008"/>
            <a:ext cx="3749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1F2A"/>
                </a:solidFill>
                <a:latin typeface="Calibri"/>
              </a:rPr>
              <a:t>Access 35 confidential files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67728" y="2551176"/>
            <a:ext cx="0" cy="310896"/>
          </a:xfrm>
          <a:prstGeom prst="line">
            <a:avLst/>
          </a:prstGeom>
          <a:ln w="19050">
            <a:solidFill>
              <a:srgbClr val="DDE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03720" y="288036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2A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282549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Calibri"/>
              </a:rPr>
              <a:t>02:16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2825496"/>
            <a:ext cx="3749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1F2A"/>
                </a:solidFill>
                <a:latin typeface="Calibri"/>
              </a:rPr>
              <a:t>Download 18 files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967728" y="3026664"/>
            <a:ext cx="0" cy="310896"/>
          </a:xfrm>
          <a:prstGeom prst="line">
            <a:avLst/>
          </a:prstGeom>
          <a:ln w="19050">
            <a:solidFill>
              <a:srgbClr val="DDE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03720" y="33558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3300984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Calibri"/>
              </a:rPr>
              <a:t>02:18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300984"/>
            <a:ext cx="3749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1F2A"/>
                </a:solidFill>
                <a:latin typeface="Calibri"/>
              </a:rPr>
              <a:t>Attempt restricted HR access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967728" y="3502152"/>
            <a:ext cx="0" cy="310896"/>
          </a:xfrm>
          <a:prstGeom prst="line">
            <a:avLst/>
          </a:prstGeom>
          <a:ln w="19050">
            <a:solidFill>
              <a:srgbClr val="DDE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903720" y="383133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377647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Calibri"/>
              </a:rPr>
              <a:t>02:20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3776472"/>
            <a:ext cx="3749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1F2A"/>
                </a:solidFill>
                <a:latin typeface="Calibri"/>
              </a:rPr>
              <a:t>Attempt database access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4343400"/>
            <a:ext cx="4800600" cy="502920"/>
          </a:xfrm>
          <a:prstGeom prst="roundRect">
            <a:avLst>
              <a:gd name="adj" fmla="val 10000"/>
            </a:avLst>
          </a:prstGeom>
          <a:solidFill>
            <a:srgbClr val="FCE9EA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E63946"/>
                </a:solidFill>
                <a:latin typeface="Calibri"/>
              </a:rPr>
              <a:t>Static system: credentials valid → ALLOW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We Are Trying to Achieve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05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PRIMARY OBJECTIVES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54864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>
                <a:solidFill>
                  <a:srgbClr val="1B1F2A"/>
                </a:solidFill>
                <a:latin typeface="Calibri"/>
              </a:rPr>
              <a:t>•  Secure authentication &amp; authorization framework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>
                <a:solidFill>
                  <a:srgbClr val="1B1F2A"/>
                </a:solidFill>
                <a:latin typeface="Calibri"/>
              </a:rPr>
              <a:t>•  Multiple access-control models (RBAC, MAC, ABAC, TBAC)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>
                <a:solidFill>
                  <a:srgbClr val="1B1F2A"/>
                </a:solidFill>
                <a:latin typeface="Calibri"/>
              </a:rPr>
              <a:t>•  A hybrid policy engine combining all four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>
                <a:solidFill>
                  <a:srgbClr val="1B1F2A"/>
                </a:solidFill>
                <a:latin typeface="Calibri"/>
              </a:rPr>
              <a:t>•  Centralized, tamper-aware security audit logging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>
                <a:solidFill>
                  <a:srgbClr val="1B1F2A"/>
                </a:solidFill>
                <a:latin typeface="Calibri"/>
              </a:rPr>
              <a:t>•  Model normal user behavior from access patterns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>
                <a:solidFill>
                  <a:srgbClr val="1B1F2A"/>
                </a:solidFill>
                <a:latin typeface="Calibri"/>
              </a:rPr>
              <a:t>•  Detect anomalies with machine learning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>
                <a:solidFill>
                  <a:srgbClr val="1B1F2A"/>
                </a:solidFill>
                <a:latin typeface="Calibri"/>
              </a:rPr>
              <a:t>•  Convert anomaly signal → quantified risk score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>
                <a:solidFill>
                  <a:srgbClr val="1B1F2A"/>
                </a:solidFill>
                <a:latin typeface="Calibri"/>
              </a:rPr>
              <a:t>•  Trigger adaptive responses to high-risk activity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>
                <a:solidFill>
                  <a:srgbClr val="1B1F2A"/>
                </a:solidFill>
                <a:latin typeface="Calibri"/>
              </a:rPr>
              <a:t>•  Give admins understandable, AI-assisted event explanations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28AA8"/>
                </a:solidFill>
                <a:latin typeface="Calibri"/>
              </a:rPr>
              <a:t>SECONDARY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53492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>
                <a:solidFill>
                  <a:srgbClr val="028AA8"/>
                </a:solidFill>
                <a:latin typeface="Calibri"/>
              </a:rPr>
              <a:t>•  Demonstrate practical, applied information-security concepts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>
                <a:solidFill>
                  <a:srgbClr val="028AA8"/>
                </a:solidFill>
                <a:latin typeface="Calibri"/>
              </a:rPr>
              <a:t>•  Provide measurable ML performance (precision / recall / F1)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>
                <a:solidFill>
                  <a:srgbClr val="028AA8"/>
                </a:solidFill>
                <a:latin typeface="Calibri"/>
              </a:rPr>
              <a:t>•  Create realistic, controlled security attack scenarios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>
                <a:solidFill>
                  <a:srgbClr val="028AA8"/>
                </a:solidFill>
                <a:latin typeface="Calibri"/>
              </a:rPr>
              <a:t>•  Produce an extensible architecture for future security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4114800"/>
            <a:ext cx="5349240" cy="2057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/>
          <a:lstStyle/>
          <a:p>
            <a:pPr algn="ctr"/>
            <a:r>
              <a:rPr sz="1500" b="1">
                <a:solidFill>
                  <a:srgbClr val="00B4D8"/>
                </a:solidFill>
                <a:latin typeface="Calibri"/>
              </a:rPr>
              <a:t>Target scope: “Resume-Ready Version”</a:t>
            </a:r>
          </a:p>
          <a:p>
            <a:r>
              <a:rPr sz="1300">
                <a:solidFill>
                  <a:srgbClr val="FFFFFF"/>
                </a:solidFill>
                <a:latin typeface="Calibri"/>
              </a:rPr>
              <a:t>→ Hybrid access control + audit logging</a:t>
            </a:r>
          </a:p>
          <a:p>
            <a:r>
              <a:rPr sz="1300">
                <a:solidFill>
                  <a:srgbClr val="FFFFFF"/>
                </a:solidFill>
                <a:latin typeface="Calibri"/>
              </a:rPr>
              <a:t>→ + ML anomaly detection + risk scoring</a:t>
            </a:r>
          </a:p>
          <a:p>
            <a:r>
              <a:rPr sz="1300">
                <a:solidFill>
                  <a:srgbClr val="FFFFFF"/>
                </a:solidFill>
                <a:latin typeface="Calibri"/>
              </a:rPr>
              <a:t>→ + adaptive responses + admin dashboard</a:t>
            </a:r>
          </a:p>
          <a:p>
            <a:r>
              <a:rPr sz="1300">
                <a:solidFill>
                  <a:srgbClr val="FFFFFF"/>
                </a:solidFill>
                <a:latin typeface="Calibri"/>
              </a:rPr>
              <a:t>→ + AI incident explanations + Docker deployment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OUR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Beyond Static Authorization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06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212080" cy="502920"/>
          </a:xfrm>
          <a:prstGeom prst="roundRect">
            <a:avLst>
              <a:gd name="adj" fmla="val 10000"/>
            </a:avLst>
          </a:prstGeom>
          <a:solidFill>
            <a:srgbClr val="EEF1F6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500" b="1">
                <a:solidFill>
                  <a:srgbClr val="646E7C"/>
                </a:solidFill>
                <a:latin typeface="Calibri"/>
              </a:rPr>
              <a:t>Traditional Access Control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21208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2331720"/>
            <a:ext cx="2103120" cy="594360"/>
          </a:xfrm>
          <a:prstGeom prst="roundRect">
            <a:avLst>
              <a:gd name="adj" fmla="val 10000"/>
            </a:avLst>
          </a:prstGeom>
          <a:solidFill>
            <a:srgbClr val="EEF1F6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0B1F3A"/>
                </a:solidFill>
                <a:latin typeface="Calibri"/>
              </a:rPr>
              <a:t>Identity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2331720"/>
            <a:ext cx="2103120" cy="594360"/>
          </a:xfrm>
          <a:prstGeom prst="roundRect">
            <a:avLst>
              <a:gd name="adj" fmla="val 10000"/>
            </a:avLst>
          </a:prstGeom>
          <a:solidFill>
            <a:srgbClr val="EEF1F6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0B1F3A"/>
                </a:solidFill>
                <a:latin typeface="Calibri"/>
              </a:rPr>
              <a:t>Access Policy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65960" y="2926080"/>
            <a:ext cx="0" cy="365760"/>
          </a:xfrm>
          <a:prstGeom prst="line">
            <a:avLst/>
          </a:prstGeom>
          <a:ln w="28575">
            <a:solidFill>
              <a:srgbClr val="646E7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377440" y="2926080"/>
            <a:ext cx="1874520" cy="365760"/>
          </a:xfrm>
          <a:prstGeom prst="line">
            <a:avLst/>
          </a:prstGeom>
          <a:ln w="28575">
            <a:solidFill>
              <a:srgbClr val="646E7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4400" y="3337560"/>
            <a:ext cx="3474720" cy="59436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Allow / Deny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60520"/>
            <a:ext cx="43891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646E7C"/>
                </a:solidFill>
                <a:latin typeface="Calibri"/>
              </a:rPr>
              <a:t>Once credentials + role/attributes check out, access is granted — regardless of how the account behaves afterward.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371600"/>
            <a:ext cx="5212080" cy="50292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SentinelAI Approach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011680"/>
            <a:ext cx="521208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0" y="219456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EEF1F6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Identity + Policy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194560"/>
            <a:ext cx="2103120" cy="457200"/>
          </a:xfrm>
          <a:prstGeom prst="roundRect">
            <a:avLst>
              <a:gd name="adj" fmla="val 10000"/>
            </a:avLst>
          </a:prstGeom>
          <a:solidFill>
            <a:srgbClr val="EEF1F6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Context + Behavior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72400" y="2651760"/>
            <a:ext cx="0" cy="320040"/>
          </a:xfrm>
          <a:prstGeom prst="line">
            <a:avLst/>
          </a:prstGeom>
          <a:ln w="28575">
            <a:solidFill>
              <a:srgbClr val="028A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8138160" y="2651760"/>
            <a:ext cx="2057400" cy="320040"/>
          </a:xfrm>
          <a:prstGeom prst="line">
            <a:avLst/>
          </a:prstGeom>
          <a:ln w="28575">
            <a:solidFill>
              <a:srgbClr val="028A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675120" y="3017520"/>
            <a:ext cx="3931920" cy="502920"/>
          </a:xfrm>
          <a:prstGeom prst="roundRect">
            <a:avLst>
              <a:gd name="adj" fmla="val 10000"/>
            </a:avLst>
          </a:prstGeom>
          <a:solidFill>
            <a:srgbClr val="F2A619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Risk Analysis (ML)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641080" y="3520440"/>
            <a:ext cx="0" cy="320040"/>
          </a:xfrm>
          <a:prstGeom prst="line">
            <a:avLst/>
          </a:prstGeom>
          <a:ln w="28575">
            <a:solidFill>
              <a:srgbClr val="028A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675120" y="3886200"/>
            <a:ext cx="3931920" cy="502920"/>
          </a:xfrm>
          <a:prstGeom prst="roundRect">
            <a:avLst>
              <a:gd name="adj" fmla="val 10000"/>
            </a:avLst>
          </a:prstGeom>
          <a:solidFill>
            <a:srgbClr val="E63946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Adaptive 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5262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ALLOW • MFA • BLOCK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02920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646E7C"/>
                </a:solidFill>
                <a:latin typeface="Calibri"/>
              </a:rPr>
              <a:t>Same valid credentials, but abnormal behavior escalates the response.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Hybrid Policy Engine: RBAC + MAC + ABAC + TBAC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07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RBAC</a:t>
            </a:r>
          </a:p>
          <a:p>
            <a:pPr algn="ctr"/>
            <a:r>
              <a:rPr sz="1150">
                <a:solidFill>
                  <a:srgbClr val="EAF2FB"/>
                </a:solidFill>
                <a:latin typeface="Calibri"/>
              </a:rPr>
              <a:t>Role-Based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402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50">
                <a:solidFill>
                  <a:srgbClr val="1B1F2A"/>
                </a:solidFill>
                <a:latin typeface="Calibri"/>
              </a:rPr>
              <a:t>Access depends on the user's role
(Finance → Financial Reports)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37160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028AA8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MAC</a:t>
            </a:r>
          </a:p>
          <a:p>
            <a:pPr algn="ctr"/>
            <a:r>
              <a:rPr sz="1150">
                <a:solidFill>
                  <a:srgbClr val="EAF2FB"/>
                </a:solidFill>
                <a:latin typeface="Calibri"/>
              </a:rPr>
              <a:t>Mandatory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2402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50">
                <a:solidFill>
                  <a:srgbClr val="1B1F2A"/>
                </a:solidFill>
                <a:latin typeface="Calibri"/>
              </a:rPr>
              <a:t>Resource classification vs. user clearance
(PUBLIC &lt; CONFIDENTIAL &lt; SECRET &lt; TOP_SECRET)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7160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2EC4B6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ABAC</a:t>
            </a:r>
          </a:p>
          <a:p>
            <a:pPr algn="ctr"/>
            <a:r>
              <a:rPr sz="1150">
                <a:solidFill>
                  <a:srgbClr val="EAF2FB"/>
                </a:solidFill>
                <a:latin typeface="Calibri"/>
              </a:rPr>
              <a:t>Attribute-Based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402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50">
                <a:solidFill>
                  <a:srgbClr val="1B1F2A"/>
                </a:solidFill>
                <a:latin typeface="Calibri"/>
              </a:rPr>
              <a:t>Department match + trusted device
required for access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137160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F2A619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TBAC</a:t>
            </a:r>
          </a:p>
          <a:p>
            <a:pPr algn="ctr"/>
            <a:r>
              <a:rPr sz="1150">
                <a:solidFill>
                  <a:srgbClr val="EAF2FB"/>
                </a:solidFill>
                <a:latin typeface="Calibri"/>
              </a:rPr>
              <a:t>Time-Based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22402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50">
                <a:solidFill>
                  <a:srgbClr val="1B1F2A"/>
                </a:solidFill>
                <a:latin typeface="Calibri"/>
              </a:rPr>
              <a:t>Access allowed only within a
defined time window (e.g. 09:00–18:00)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77639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COMPOSITION RULE: AND (all must pass)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34840"/>
            <a:ext cx="1417320" cy="502920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RBAC: PASS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4681728"/>
            <a:ext cx="274320" cy="0"/>
          </a:xfrm>
          <a:prstGeom prst="line">
            <a:avLst/>
          </a:prstGeom>
          <a:ln w="19050">
            <a:solidFill>
              <a:srgbClr val="646E7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194560" y="4434840"/>
            <a:ext cx="1417320" cy="502920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MAC: PASS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11880" y="4681728"/>
            <a:ext cx="274320" cy="0"/>
          </a:xfrm>
          <a:prstGeom prst="line">
            <a:avLst/>
          </a:prstGeom>
          <a:ln w="19050">
            <a:solidFill>
              <a:srgbClr val="646E7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886200" y="4434840"/>
            <a:ext cx="1417320" cy="502920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ABAC: PASS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03520" y="4681728"/>
            <a:ext cx="274320" cy="0"/>
          </a:xfrm>
          <a:prstGeom prst="line">
            <a:avLst/>
          </a:prstGeom>
          <a:ln w="19050">
            <a:solidFill>
              <a:srgbClr val="646E7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577840" y="4434840"/>
            <a:ext cx="1417320" cy="502920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TBAC: FAIL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95159" y="4681728"/>
            <a:ext cx="411481" cy="0"/>
          </a:xfrm>
          <a:prstGeom prst="line">
            <a:avLst/>
          </a:prstGeom>
          <a:ln w="19050">
            <a:solidFill>
              <a:srgbClr val="646E7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406640" y="4434840"/>
            <a:ext cx="1920240" cy="50292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FINAL: DENY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212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646E7C"/>
                </a:solidFill>
                <a:latin typeface="Calibri"/>
              </a:rPr>
              <a:t>A single failing dimension overrides all passing ones — e.g. an otherwise fully-authorized request outside business hours is still denied by TBAC.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08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234440"/>
            <a:ext cx="2377440" cy="438912"/>
          </a:xfrm>
          <a:prstGeom prst="roundRect">
            <a:avLst>
              <a:gd name="adj" fmla="val 10000"/>
            </a:avLst>
          </a:prstGeom>
          <a:solidFill>
            <a:srgbClr val="EEF1F6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Client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673352"/>
            <a:ext cx="0" cy="201167"/>
          </a:xfrm>
          <a:prstGeom prst="line">
            <a:avLst/>
          </a:prstGeom>
          <a:ln w="25400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43200" y="1874519"/>
            <a:ext cx="2377440" cy="438912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Authentication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31920" y="2313432"/>
            <a:ext cx="0" cy="201168"/>
          </a:xfrm>
          <a:prstGeom prst="line">
            <a:avLst/>
          </a:prstGeom>
          <a:ln w="25400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60320" y="2514600"/>
            <a:ext cx="2743200" cy="438912"/>
          </a:xfrm>
          <a:prstGeom prst="roundRect">
            <a:avLst>
              <a:gd name="adj" fmla="val 10000"/>
            </a:avLst>
          </a:prstGeom>
          <a:solidFill>
            <a:srgbClr val="142B4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Access Request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194560" y="2953512"/>
            <a:ext cx="1188719" cy="292608"/>
          </a:xfrm>
          <a:prstGeom prst="line">
            <a:avLst/>
          </a:prstGeom>
          <a:ln w="25400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480559" y="2953512"/>
            <a:ext cx="1188721" cy="292608"/>
          </a:xfrm>
          <a:prstGeom prst="line">
            <a:avLst/>
          </a:prstGeom>
          <a:ln w="25400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05840" y="32461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0B1F3A"/>
                </a:solidFill>
                <a:latin typeface="Calibri"/>
              </a:rPr>
              <a:t>Policy Engine</a:t>
            </a:r>
          </a:p>
          <a:p>
            <a:pPr algn="ctr"/>
            <a:r>
              <a:rPr sz="1050">
                <a:solidFill>
                  <a:srgbClr val="646E7C"/>
                </a:solidFill>
                <a:latin typeface="Calibri"/>
              </a:rPr>
              <a:t>RBAC · MAC · ABAC · TBAC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32461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0B1F3A"/>
                </a:solidFill>
                <a:latin typeface="Calibri"/>
              </a:rPr>
              <a:t>Risk Engine</a:t>
            </a:r>
          </a:p>
          <a:p>
            <a:pPr algn="ctr"/>
            <a:r>
              <a:rPr sz="1050">
                <a:solidFill>
                  <a:srgbClr val="646E7C"/>
                </a:solidFill>
                <a:latin typeface="Calibri"/>
              </a:rPr>
              <a:t>Behavioral features → ML anomaly detection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94560" y="4114800"/>
            <a:ext cx="1280160" cy="228600"/>
          </a:xfrm>
          <a:prstGeom prst="line">
            <a:avLst/>
          </a:prstGeom>
          <a:ln w="25400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4389120" y="4114800"/>
            <a:ext cx="1280160" cy="228600"/>
          </a:xfrm>
          <a:prstGeom prst="line">
            <a:avLst/>
          </a:prstGeom>
          <a:ln w="25400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560320" y="4343400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2A619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0B1F3A"/>
                </a:solidFill>
                <a:latin typeface="Calibri"/>
              </a:rPr>
              <a:t>Decision Engine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560320" y="4800600"/>
            <a:ext cx="548640" cy="274320"/>
          </a:xfrm>
          <a:prstGeom prst="line">
            <a:avLst/>
          </a:prstGeom>
          <a:ln w="25400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931920" y="4800600"/>
            <a:ext cx="0" cy="274320"/>
          </a:xfrm>
          <a:prstGeom prst="line">
            <a:avLst/>
          </a:prstGeom>
          <a:ln w="25400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754880" y="4800600"/>
            <a:ext cx="548640" cy="274320"/>
          </a:xfrm>
          <a:prstGeom prst="line">
            <a:avLst/>
          </a:prstGeom>
          <a:ln w="25400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965960" y="5074920"/>
            <a:ext cx="1188720" cy="438912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ALLOW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5074920"/>
            <a:ext cx="1188720" cy="438912"/>
          </a:xfrm>
          <a:prstGeom prst="roundRect">
            <a:avLst>
              <a:gd name="adj" fmla="val 50000"/>
            </a:avLst>
          </a:prstGeom>
          <a:solidFill>
            <a:srgbClr val="F2A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250" b="1">
                <a:solidFill>
                  <a:srgbClr val="0B1F3A"/>
                </a:solidFill>
                <a:latin typeface="Calibri"/>
              </a:rPr>
              <a:t>MFA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5074920"/>
            <a:ext cx="1188720" cy="438912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BLOCK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31920" y="5513832"/>
            <a:ext cx="0" cy="228600"/>
          </a:xfrm>
          <a:prstGeom prst="line">
            <a:avLst/>
          </a:prstGeom>
          <a:ln w="25400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36295" y="5779008"/>
            <a:ext cx="2697480" cy="457200"/>
          </a:xfrm>
          <a:prstGeom prst="roundRect">
            <a:avLst>
              <a:gd name="adj" fmla="val 10000"/>
            </a:avLst>
          </a:prstGeom>
          <a:solidFill>
            <a:srgbClr val="142B4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Audit Service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33775" y="6007608"/>
            <a:ext cx="109728" cy="0"/>
          </a:xfrm>
          <a:prstGeom prst="line">
            <a:avLst/>
          </a:prstGeom>
          <a:ln w="22225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343503" y="5779008"/>
            <a:ext cx="2697480" cy="457200"/>
          </a:xfrm>
          <a:prstGeom prst="roundRect">
            <a:avLst>
              <a:gd name="adj" fmla="val 10000"/>
            </a:avLst>
          </a:prstGeom>
          <a:solidFill>
            <a:srgbClr val="028AA8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40983" y="6007608"/>
            <a:ext cx="109728" cy="0"/>
          </a:xfrm>
          <a:prstGeom prst="line">
            <a:avLst/>
          </a:prstGeom>
          <a:ln w="22225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150711" y="5779008"/>
            <a:ext cx="2697480" cy="4572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Admin Dashboard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848191" y="6007608"/>
            <a:ext cx="109728" cy="0"/>
          </a:xfrm>
          <a:prstGeom prst="line">
            <a:avLst/>
          </a:prstGeom>
          <a:ln w="22225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57919" y="5779008"/>
            <a:ext cx="2697480" cy="457200"/>
          </a:xfrm>
          <a:prstGeom prst="roundRect">
            <a:avLst>
              <a:gd name="adj" fmla="val 10000"/>
            </a:avLst>
          </a:prstGeom>
          <a:solidFill>
            <a:srgbClr val="E63946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AI Analyst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12801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" b="0" i="0">
                <a:solidFill>
                  <a:srgbClr val="1B1F2A"/>
                </a:solidFill>
                <a:latin typeface="Calibri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BEHAVIORAL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Risk Scoring &amp; Adaptive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09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BEHAVIORAL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56692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1B1F2A"/>
                </a:solidFill>
                <a:latin typeface="Calibri"/>
              </a:rPr>
              <a:t>•  Login hour &amp; failed-login count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1B1F2A"/>
                </a:solidFill>
                <a:latin typeface="Calibri"/>
              </a:rPr>
              <a:t>•  Number of resources accessed / downloads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1B1F2A"/>
                </a:solidFill>
                <a:latin typeface="Calibri"/>
              </a:rPr>
              <a:t>•  Request frequency &amp; resource sensitivity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1B1F2A"/>
                </a:solidFill>
                <a:latin typeface="Calibri"/>
              </a:rPr>
              <a:t>•  Location &amp; device familiarity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1B1F2A"/>
                </a:solidFill>
                <a:latin typeface="Calibri"/>
              </a:rPr>
              <a:t>•  Access outside normal hours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1B1F2A"/>
                </a:solidFill>
                <a:latin typeface="Calibri"/>
              </a:rPr>
              <a:t>•  Number of denied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404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RISK SCORE RESPONSE POLICY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062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4261103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1F2A"/>
                </a:solidFill>
                <a:latin typeface="Calibri"/>
              </a:rPr>
              <a:t>Allow and 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2A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31–60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718303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1F2A"/>
                </a:solidFill>
                <a:latin typeface="Calibri"/>
              </a:rPr>
              <a:t>Allow, increase monitoring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1206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E8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61–80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5175503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1F2A"/>
                </a:solidFill>
                <a:latin typeface="Calibri"/>
              </a:rPr>
              <a:t>Require additional authentication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778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81–100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632703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1F2A"/>
                </a:solidFill>
                <a:latin typeface="Calibri"/>
              </a:rPr>
              <a:t>Block + security alert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1371600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Behavioral Event Stream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98280" y="1920240"/>
            <a:ext cx="0" cy="228600"/>
          </a:xfrm>
          <a:prstGeom prst="line">
            <a:avLst/>
          </a:prstGeom>
          <a:ln w="28575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675120" y="2148840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142B4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Feature Extraction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98280" y="2697480"/>
            <a:ext cx="0" cy="228600"/>
          </a:xfrm>
          <a:prstGeom prst="line">
            <a:avLst/>
          </a:prstGeom>
          <a:ln w="28575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675120" y="2926080"/>
            <a:ext cx="4846320" cy="685800"/>
          </a:xfrm>
          <a:prstGeom prst="roundRect">
            <a:avLst>
              <a:gd name="adj" fmla="val 10000"/>
            </a:avLst>
          </a:prstGeom>
          <a:solidFill>
            <a:srgbClr val="028AA8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ML Anomaly Detection
(Isolation Forest)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98280" y="3611880"/>
            <a:ext cx="0" cy="228600"/>
          </a:xfrm>
          <a:prstGeom prst="line">
            <a:avLst/>
          </a:prstGeom>
          <a:ln w="28575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675120" y="3840480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F2A619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Risk Score (0–100)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098280" y="4389120"/>
            <a:ext cx="0" cy="228600"/>
          </a:xfrm>
          <a:prstGeom prst="line">
            <a:avLst/>
          </a:prstGeom>
          <a:ln w="28575">
            <a:solidFill>
              <a:srgbClr val="142B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675120" y="4617720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E63946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Adaptive Response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257800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646E7C"/>
                </a:solidFill>
                <a:latin typeface="Calibri"/>
              </a:rPr>
              <a:t>Authorization stays deterministic; ML only adjusts the strength of the response.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Development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10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457200" cy="658368"/>
          </a:xfrm>
          <a:prstGeom prst="roundRect">
            <a:avLst>
              <a:gd name="adj" fmla="val 3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38988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Calibri"/>
              </a:rPr>
              <a:t>Foundation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700784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6E7C"/>
                </a:solidFill>
                <a:latin typeface="Calibri"/>
              </a:rPr>
              <a:t>Architecture, PostgreSQL, auth, user &amp; resource management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04120" y="1481328"/>
            <a:ext cx="1554480" cy="40233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093976"/>
            <a:ext cx="457200" cy="658368"/>
          </a:xfrm>
          <a:prstGeom prst="roundRect">
            <a:avLst>
              <a:gd name="adj" fmla="val 3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093976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112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Calibri"/>
              </a:rPr>
              <a:t>Access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423160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6E7C"/>
                </a:solidFill>
                <a:latin typeface="Calibri"/>
              </a:rPr>
              <a:t>RBAC, MAC, ABAC, TBAC, hybrid policy engine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04120" y="2203704"/>
            <a:ext cx="1554480" cy="402336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816352"/>
            <a:ext cx="457200" cy="658368"/>
          </a:xfrm>
          <a:prstGeom prst="roundRect">
            <a:avLst>
              <a:gd name="adj" fmla="val 3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816352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8346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Calibri"/>
              </a:rPr>
              <a:t>Security Monitoring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145536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6E7C"/>
                </a:solidFill>
                <a:latin typeface="Calibri"/>
              </a:rPr>
              <a:t>Audit logging, security-event model, dashboard, attack tests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04120" y="2926080"/>
            <a:ext cx="1554480" cy="402336"/>
          </a:xfrm>
          <a:prstGeom prst="roundRect">
            <a:avLst>
              <a:gd name="adj" fmla="val 50000"/>
            </a:avLst>
          </a:prstGeom>
          <a:solidFill>
            <a:srgbClr val="F2A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50" b="1">
                <a:solidFill>
                  <a:srgbClr val="0B1F3A"/>
                </a:solidFill>
                <a:latin typeface="Calibri"/>
              </a:rPr>
              <a:t>PARTIAL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538728"/>
            <a:ext cx="457200" cy="658368"/>
          </a:xfrm>
          <a:prstGeom prst="roundRect">
            <a:avLst>
              <a:gd name="adj" fmla="val 3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538728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55701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Calibri"/>
              </a:rPr>
              <a:t>Machine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867912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6E7C"/>
                </a:solidFill>
                <a:latin typeface="Calibri"/>
              </a:rPr>
              <a:t>Feature engineering, dataset, Isolation Forest, evaluation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3648456"/>
            <a:ext cx="1554480" cy="402336"/>
          </a:xfrm>
          <a:prstGeom prst="roundRect">
            <a:avLst>
              <a:gd name="adj" fmla="val 50000"/>
            </a:avLst>
          </a:prstGeom>
          <a:solidFill>
            <a:srgbClr val="646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PLANNED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261104"/>
            <a:ext cx="457200" cy="658368"/>
          </a:xfrm>
          <a:prstGeom prst="roundRect">
            <a:avLst>
              <a:gd name="adj" fmla="val 3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261104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427939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Calibri"/>
              </a:rPr>
              <a:t>Adaptive Security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4590288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6E7C"/>
                </a:solidFill>
                <a:latin typeface="Calibri"/>
              </a:rPr>
              <a:t>Risk scoring, MFA/challenge workflow, auto-blocking, alerts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4120" y="4370832"/>
            <a:ext cx="1554480" cy="402336"/>
          </a:xfrm>
          <a:prstGeom prst="roundRect">
            <a:avLst>
              <a:gd name="adj" fmla="val 50000"/>
            </a:avLst>
          </a:prstGeom>
          <a:solidFill>
            <a:srgbClr val="646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PLANNED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983480"/>
            <a:ext cx="457200" cy="658368"/>
          </a:xfrm>
          <a:prstGeom prst="roundRect">
            <a:avLst>
              <a:gd name="adj" fmla="val 3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98348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500176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Calibri"/>
              </a:rPr>
              <a:t>AI Analyst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5312664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6E7C"/>
                </a:solidFill>
                <a:latin typeface="Calibri"/>
              </a:rPr>
              <a:t>LLM integration, incident summaries, explanations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093208"/>
            <a:ext cx="1554480" cy="402336"/>
          </a:xfrm>
          <a:prstGeom prst="roundRect">
            <a:avLst>
              <a:gd name="adj" fmla="val 50000"/>
            </a:avLst>
          </a:prstGeom>
          <a:solidFill>
            <a:srgbClr val="646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PLANNED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705856"/>
            <a:ext cx="457200" cy="658368"/>
          </a:xfrm>
          <a:prstGeom prst="roundRect">
            <a:avLst>
              <a:gd name="adj" fmla="val 3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705856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572414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Calibri"/>
              </a:rPr>
              <a:t>Finalization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6035040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6E7C"/>
                </a:solidFill>
                <a:latin typeface="Calibri"/>
              </a:rPr>
              <a:t>Testing, ML evaluation, Dockerization, documentation, demo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04120" y="5815584"/>
            <a:ext cx="1554480" cy="402336"/>
          </a:xfrm>
          <a:prstGeom prst="roundRect">
            <a:avLst>
              <a:gd name="adj" fmla="val 50000"/>
            </a:avLst>
          </a:prstGeom>
          <a:solidFill>
            <a:srgbClr val="646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PLANNED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Progress So Far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C4B6"/>
                </a:solidFill>
                <a:latin typeface="Calibri"/>
              </a:rPr>
              <a:t>IMPLEMENTED (Phase 1 + Phase 2, backend)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6400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2EC4B6"/>
                </a:solidFill>
                <a:latin typeface="Calibri"/>
              </a:rPr>
              <a:t>✓  FastAPI backend with modular routers (auth, users, resources, audit)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2EC4B6"/>
                </a:solidFill>
                <a:latin typeface="Calibri"/>
              </a:rPr>
              <a:t>✓  JWT authentication + bcrypt password hashing; account lockout after repeated failed logins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2EC4B6"/>
                </a:solidFill>
                <a:latin typeface="Calibri"/>
              </a:rPr>
              <a:t>✓  Hybrid Policy Engine: RBAC + MAC + ABAC + TBAC combined with AND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2EC4B6"/>
                </a:solidFill>
                <a:latin typeface="Calibri"/>
              </a:rPr>
              <a:t>✓  Role-gated endpoints (Administrator-only user &amp; audit views)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2EC4B6"/>
                </a:solidFill>
                <a:latin typeface="Calibri"/>
              </a:rPr>
              <a:t>✓  Centralized audit logging — every login attempt and access decision recorded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2EC4B6"/>
                </a:solidFill>
                <a:latin typeface="Calibri"/>
              </a:rPr>
              <a:t>✓  PostgreSQL schema + SQLAlchemy models (users, resources, policies, access_events, security_alerts)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2EC4B6"/>
                </a:solidFill>
                <a:latin typeface="Calibri"/>
              </a:rPr>
              <a:t>✓  Automated pytest suite incl. simulated attack scenarios (35+ tests)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2EC4B6"/>
                </a:solidFill>
                <a:latin typeface="Calibri"/>
              </a:rPr>
              <a:t>✓  Dockerized: Postgres + FastAPI via docker-compose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28016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COMPLETION BY PHASE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69164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1F2A"/>
                </a:solidFill>
                <a:latin typeface="Calibri"/>
              </a:rPr>
              <a:t>Foundation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984248"/>
            <a:ext cx="4480560" cy="201168"/>
          </a:xfrm>
          <a:prstGeom prst="roundRect">
            <a:avLst>
              <a:gd name="adj" fmla="val 50000"/>
            </a:avLst>
          </a:prstGeom>
          <a:solidFill>
            <a:srgbClr val="DD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23760" y="1984248"/>
            <a:ext cx="4480560" cy="20116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92840" y="16916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6E7C"/>
                </a:solidFill>
                <a:latin typeface="Calibr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25856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1F2A"/>
                </a:solidFill>
                <a:latin typeface="Calibri"/>
              </a:rPr>
              <a:t>Access Control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2551176"/>
            <a:ext cx="4480560" cy="201168"/>
          </a:xfrm>
          <a:prstGeom prst="roundRect">
            <a:avLst>
              <a:gd name="adj" fmla="val 50000"/>
            </a:avLst>
          </a:prstGeom>
          <a:solidFill>
            <a:srgbClr val="DD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223760" y="2551176"/>
            <a:ext cx="4480560" cy="20116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92840" y="225856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6E7C"/>
                </a:solidFill>
                <a:latin typeface="Calibr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82549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1F2A"/>
                </a:solidFill>
                <a:latin typeface="Calibri"/>
              </a:rPr>
              <a:t>Security Monitoring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3118104"/>
            <a:ext cx="4480560" cy="201168"/>
          </a:xfrm>
          <a:prstGeom prst="roundRect">
            <a:avLst>
              <a:gd name="adj" fmla="val 50000"/>
            </a:avLst>
          </a:prstGeom>
          <a:solidFill>
            <a:srgbClr val="DD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23760" y="3118104"/>
            <a:ext cx="2464308" cy="201168"/>
          </a:xfrm>
          <a:prstGeom prst="roundRect">
            <a:avLst>
              <a:gd name="adj" fmla="val 50000"/>
            </a:avLst>
          </a:prstGeom>
          <a:solidFill>
            <a:srgbClr val="F2A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92840" y="282549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6E7C"/>
                </a:solidFill>
                <a:latin typeface="Calibri"/>
              </a:rPr>
              <a:t>55%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3924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1F2A"/>
                </a:solidFill>
                <a:latin typeface="Calibri"/>
              </a:rPr>
              <a:t>Machine Learning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60" y="3685032"/>
            <a:ext cx="4480560" cy="201168"/>
          </a:xfrm>
          <a:prstGeom prst="roundRect">
            <a:avLst>
              <a:gd name="adj" fmla="val 50000"/>
            </a:avLst>
          </a:prstGeom>
          <a:solidFill>
            <a:srgbClr val="DD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292840" y="339242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6E7C"/>
                </a:solidFill>
                <a:latin typeface="Calibri"/>
              </a:rPr>
              <a:t>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95935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1F2A"/>
                </a:solidFill>
                <a:latin typeface="Calibri"/>
              </a:rPr>
              <a:t>Adaptive Security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0" y="4251960"/>
            <a:ext cx="4480560" cy="201168"/>
          </a:xfrm>
          <a:prstGeom prst="roundRect">
            <a:avLst>
              <a:gd name="adj" fmla="val 50000"/>
            </a:avLst>
          </a:prstGeom>
          <a:solidFill>
            <a:srgbClr val="DD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92840" y="39593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6E7C"/>
                </a:solidFill>
                <a:latin typeface="Calibri"/>
              </a:rPr>
              <a:t>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52628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1F2A"/>
                </a:solidFill>
                <a:latin typeface="Calibri"/>
              </a:rPr>
              <a:t>AI Analyst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23760" y="4818888"/>
            <a:ext cx="4480560" cy="201168"/>
          </a:xfrm>
          <a:prstGeom prst="roundRect">
            <a:avLst>
              <a:gd name="adj" fmla="val 50000"/>
            </a:avLst>
          </a:prstGeom>
          <a:solidFill>
            <a:srgbClr val="DD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92840" y="45262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6E7C"/>
                </a:solidFill>
                <a:latin typeface="Calibri"/>
              </a:rPr>
              <a:t>0%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23760" y="5349240"/>
            <a:ext cx="4480560" cy="96012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1500" b="1">
                <a:solidFill>
                  <a:srgbClr val="00B4D8"/>
                </a:solidFill>
                <a:latin typeface="Calibri"/>
              </a:rPr>
              <a:t>Overall project completion: ~35–40%</a:t>
            </a:r>
          </a:p>
          <a:p>
            <a:r>
              <a:rPr sz="1150">
                <a:solidFill>
                  <a:srgbClr val="FFFFFF"/>
                </a:solidFill>
                <a:latin typeface="Calibri"/>
              </a:rPr>
              <a:t>Backend security core is solid; ML, adaptive layer &amp; UI remain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Testing: Simulated Attack Scenarios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46E7C"/>
                </a:solidFill>
                <a:latin typeface="Calibri"/>
              </a:rPr>
              <a:t>Each scenario from the threat model is encoded as an automated pytest case against a live FastAPI test client.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161288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4114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20240"/>
            <a:ext cx="2148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920240"/>
            <a:ext cx="4343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Simulated Behavior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1920240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Expected 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27080" y="1920240"/>
            <a:ext cx="1143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86000"/>
            <a:ext cx="11612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377440"/>
            <a:ext cx="384048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377440"/>
            <a:ext cx="2121408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Brute Force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377440"/>
            <a:ext cx="4315968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Repeated failed logins against one account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77440"/>
            <a:ext cx="2852927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Account LOCKED + all attempts audited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244144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944368"/>
            <a:ext cx="11612880" cy="658368"/>
          </a:xfrm>
          <a:prstGeom prst="rect">
            <a:avLst/>
          </a:prstGeom>
          <a:solidFill>
            <a:srgbClr val="F0F3F8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035808"/>
            <a:ext cx="384048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035808"/>
            <a:ext cx="2121408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Credential Compromise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3035808"/>
            <a:ext cx="4315968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Unusual login time + unknown device on valid credentials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3035808"/>
            <a:ext cx="2852927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Flagged despite valid credentials (risk layer)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0" y="3099815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602735"/>
            <a:ext cx="11612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4175"/>
            <a:ext cx="384048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694175"/>
            <a:ext cx="2121408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Privilege Abuse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3694175"/>
            <a:ext cx="4315968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Authorized user requests a role-restricted resource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3694175"/>
            <a:ext cx="2852927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DENIED by RBAC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72800" y="3758183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261103"/>
            <a:ext cx="11612880" cy="658368"/>
          </a:xfrm>
          <a:prstGeom prst="rect">
            <a:avLst/>
          </a:prstGeom>
          <a:solidFill>
            <a:srgbClr val="F0F3F8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352543"/>
            <a:ext cx="384048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352543"/>
            <a:ext cx="2121408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Policy Violation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4352543"/>
            <a:ext cx="4315968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User clearance below resource classification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4352543"/>
            <a:ext cx="2852927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1F2A"/>
                </a:solidFill>
                <a:latin typeface="Calibri"/>
              </a:rPr>
              <a:t>DENIED by MAC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972800" y="4416551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102351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35+ automated tests across auth, policy engine, resource access and audit modules — all passing.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Tools &amp; Technology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13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36576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92807"/>
            <a:ext cx="3291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Python 3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FastAPI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SQLAlchemy (ORM)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Pydantic / pydantic-settings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2588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E63946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783080"/>
            <a:ext cx="36576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92807"/>
            <a:ext cx="3291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bcrypt (password hashing)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PyJWT (access tokens)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OAuth2 password bearer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32588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028AA8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Database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783080"/>
            <a:ext cx="36576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59" y="1892807"/>
            <a:ext cx="3291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PostgreSQL 16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Raw SQL schema (schema.sql)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0896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2A619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Machine Learning (planned)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66160"/>
            <a:ext cx="36576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675887"/>
            <a:ext cx="3291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Pandas / NumPy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Scikit-learn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Isolation Forest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10896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2EC4B6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Frontend (planned)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3566160"/>
            <a:ext cx="36576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3675887"/>
            <a:ext cx="3291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React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HTML / CSS / JavaScript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310896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142B4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Testing &amp; DevOps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3566160"/>
            <a:ext cx="36576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59" y="3675887"/>
            <a:ext cx="3291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Pytest + httpx (TestClient)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Docker &amp; Docker Compose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1B1F2A"/>
                </a:solidFill>
                <a:latin typeface="Calibri"/>
              </a:rPr>
              <a:t>•  Git / 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What's Remaining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14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646E7C"/>
                </a:solidFill>
                <a:latin typeface="Calibri"/>
              </a:rPr>
              <a:t>Directories already scaffolded in the repo (ml/, frontend/, backend/app/{risk,alerts,ai}) but not yet implemented: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105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CE9EA"/>
          </a:solidFill>
          <a:ln w="9525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ML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792224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46E7C"/>
                </a:solidFill>
                <a:latin typeface="Calibri"/>
              </a:rPr>
              <a:t>Behavioral dataset creation, feature engineering, Isolation Forest training &amp; evaluation (ml/)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414015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CE9EA"/>
          </a:solidFill>
          <a:ln w="9525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3865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Risk Scoring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395727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46E7C"/>
                </a:solidFill>
                <a:latin typeface="Calibri"/>
              </a:rPr>
              <a:t>Convert anomaly signal into a normalized 0–100 risk score (backend/app/risk/)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1752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CE9EA"/>
          </a:solidFill>
          <a:ln w="9525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900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Adaptive Response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999232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46E7C"/>
                </a:solidFill>
                <a:latin typeface="Calibri"/>
              </a:rPr>
              <a:t>MFA challenge step-up flow and automatic blocking tied to risk thresholds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21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CE9EA"/>
          </a:solidFill>
          <a:ln w="9525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9359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Security Alerts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602736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46E7C"/>
                </a:solidFill>
                <a:latin typeface="Calibri"/>
              </a:rPr>
              <a:t>Persist and surface security_alerts records; alert lifecycle (OPEN/ACK/RESOLVED)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2452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CE9EA"/>
          </a:solidFill>
          <a:ln w="9525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19709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AI Security Analyst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206240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46E7C"/>
                </a:solidFill>
                <a:latin typeface="Calibri"/>
              </a:rPr>
              <a:t>LLM layer to translate raw events into admin-readable incident explanations (backend/app/ai/)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2803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CE9EA"/>
          </a:solidFill>
          <a:ln w="9525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800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Frontend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809744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46E7C"/>
                </a:solidFill>
                <a:latin typeface="Calibri"/>
              </a:rPr>
              <a:t>React admin dashboard for audit review, alerts and risk visualization (frontend/)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31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CE9EA"/>
          </a:solidFill>
          <a:ln w="9525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4041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ML Evaluation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5413248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46E7C"/>
                </a:solidFill>
                <a:latin typeface="Calibri"/>
              </a:rPr>
              <a:t>Precision / recall / F1 / ROC-AUC measurement, reported honestly from experiments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B4D8"/>
                </a:solidFill>
                <a:latin typeface="Calibri"/>
              </a:rPr>
              <a:t>ROADMAP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Future Plans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B9C7DD"/>
                </a:solidFill>
                <a:latin typeface="Calibri"/>
              </a:rPr>
              <a:t>15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611880" cy="54864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Immediate (Phase 3–4)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31546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1B1F2A"/>
                </a:solidFill>
                <a:latin typeface="Calibri"/>
              </a:rPr>
              <a:t>•  Finish security-event dashboard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1B1F2A"/>
                </a:solidFill>
                <a:latin typeface="Calibri"/>
              </a:rPr>
              <a:t>•  Build behavioral dataset &amp; feature set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1B1F2A"/>
                </a:solidFill>
                <a:latin typeface="Calibri"/>
              </a:rPr>
              <a:t>•  Train &amp; evaluate Isolation Forest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371600"/>
            <a:ext cx="3611880" cy="548640"/>
          </a:xfrm>
          <a:prstGeom prst="roundRect">
            <a:avLst>
              <a:gd name="adj" fmla="val 10000"/>
            </a:avLst>
          </a:prstGeom>
          <a:solidFill>
            <a:srgbClr val="028AA8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Mid-term (Phase 5–6)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92024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2148840"/>
            <a:ext cx="31546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1B1F2A"/>
                </a:solidFill>
                <a:latin typeface="Calibri"/>
              </a:rPr>
              <a:t>•  Risk scoring + adaptive MFA/block workflow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1B1F2A"/>
                </a:solidFill>
                <a:latin typeface="Calibri"/>
              </a:rPr>
              <a:t>•  Security alert lifecycle &amp; notifications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1B1F2A"/>
                </a:solidFill>
                <a:latin typeface="Calibri"/>
              </a:rPr>
              <a:t>•  AI analyst: LLM-generated incident summaries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1371600"/>
            <a:ext cx="3611880" cy="548640"/>
          </a:xfrm>
          <a:prstGeom prst="roundRect">
            <a:avLst>
              <a:gd name="adj" fmla="val 10000"/>
            </a:avLst>
          </a:prstGeom>
          <a:solidFill>
            <a:srgbClr val="F2A619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Stretch Goals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74152" y="192024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2148840"/>
            <a:ext cx="31546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1B1F2A"/>
                </a:solidFill>
                <a:latin typeface="Calibri"/>
              </a:rPr>
              <a:t>•  Continuous authentication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1B1F2A"/>
                </a:solidFill>
                <a:latin typeface="Calibri"/>
              </a:rPr>
              <a:t>•  Device fingerprinting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1B1F2A"/>
                </a:solidFill>
                <a:latin typeface="Calibri"/>
              </a:rPr>
              <a:t>•  Explainable ML for analyst trust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 b="0">
                <a:solidFill>
                  <a:srgbClr val="1B1F2A"/>
                </a:solidFill>
                <a:latin typeface="Calibri"/>
              </a:rPr>
              <a:t>•  React dashboard + Docker full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692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0B1F3A"/>
                </a:solidFill>
                <a:latin typeface="Calibri"/>
              </a:rPr>
              <a:t>Guiding principle going forward: keep authorization deterministic and auditable — ML and AI only ever inform the strength of the response, never replace the policy decision.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47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46E7C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4114800"/>
            <a:ext cx="4114800" cy="4114800"/>
          </a:xfrm>
          <a:prstGeom prst="ellipse">
            <a:avLst/>
          </a:prstGeom>
          <a:solidFill>
            <a:srgbClr val="14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B4D8"/>
                </a:solidFill>
                <a:latin typeface="Calibri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A Security Platform Beyond Static Authorization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CFDBEE"/>
                </a:solidFill>
                <a:latin typeface="Calibri"/>
              </a:rPr>
              <a:t>“A user having permission does not necessarily mean their current behavior is safe.” Identity + Policy + Context + Behavior + ML → Risk Analysis → Adaptive Response.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B4D8"/>
                </a:solidFill>
                <a:latin typeface="Calibri"/>
              </a:rPr>
              <a:t>MAPS DIRECTLY TO CBS3002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56692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00B4D8"/>
                </a:solidFill>
                <a:latin typeface="Calibri"/>
              </a:rPr>
              <a:t>•  Access control models → RBAC, MAC, ABAC, TBAC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00B4D8"/>
                </a:solidFill>
                <a:latin typeface="Calibri"/>
              </a:rPr>
              <a:t>•  Hybrid policies &amp; composition → Policy Engine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00B4D8"/>
                </a:solidFill>
                <a:latin typeface="Calibri"/>
              </a:rPr>
              <a:t>•  Auditing → Centralized audit logging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00B4D8"/>
                </a:solidFill>
                <a:latin typeface="Calibri"/>
              </a:rPr>
              <a:t>•  Intrusion detection → Behavioral anomaly detection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00B4D8"/>
                </a:solidFill>
                <a:latin typeface="Calibri"/>
              </a:rPr>
              <a:t>•  Database security → PostgreSQL schema &amp; access control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108960"/>
            <a:ext cx="4663440" cy="2743200"/>
          </a:xfrm>
          <a:prstGeom prst="roundRect">
            <a:avLst>
              <a:gd name="adj" fmla="val 8000"/>
            </a:avLst>
          </a:prstGeom>
          <a:solidFill>
            <a:srgbClr val="142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>
                <a:solidFill>
                  <a:srgbClr val="00B4D8"/>
                </a:solidFill>
                <a:latin typeface="Calibri"/>
              </a:rPr>
              <a:t>Team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Atul Bharadwaj  —  24BBS0007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Mayank Nitin Sarode  —  24BBS0096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Sai Lokesh  —  24BBS0114</a:t>
            </a:r>
          </a:p>
          <a:p>
            <a:pPr>
              <a:spcBef>
                <a:spcPts val="1800"/>
              </a:spcBef>
            </a:pPr>
            <a:r>
              <a:rPr sz="1800" b="1">
                <a:solidFill>
                  <a:srgbClr val="FFFFFF"/>
                </a:solidFill>
                <a:latin typeface="Calibri"/>
              </a:rPr>
              <a:t>Thank you — Questions?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BB8"/>
                </a:solidFill>
                <a:latin typeface="Calibri"/>
              </a:rPr>
              <a:t>SentinelAI  |  CBS3002 Information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