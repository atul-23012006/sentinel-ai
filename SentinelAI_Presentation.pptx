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4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02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4D8"/>
                </a:solidFill>
                <a:latin typeface="Calibri"/>
              </a:rPr>
              <a:t>CBS3002 · INFORMATION SECURITY — COURSE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7863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SentinelAI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CFDBEE"/>
                </a:solidFill>
                <a:latin typeface="Calibri"/>
              </a:rPr>
              <a:t>AI-Powered Adaptive Access Control &amp;</a:t>
            </a:r>
          </a:p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CFDBEE"/>
                </a:solidFill>
                <a:latin typeface="Calibri"/>
              </a:rPr>
              <a:t>Insider Threat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20440"/>
            <a:ext cx="2377440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4D8"/>
                </a:solidFill>
                <a:latin typeface="Calibri"/>
              </a:rPr>
              <a:t>TEAM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Atul Bharadwaj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178807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24BBS0007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90872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Mayank Nitin Sarode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709159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24BBS0096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21224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Sai Lokesh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523951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00B4D8"/>
                </a:solidFill>
                <a:latin typeface="Calibri"/>
              </a:rPr>
              <a:t>24BBS0114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FB1CC"/>
                </a:solidFill>
                <a:latin typeface="Calibri"/>
              </a:rPr>
              <a:t>Hybrid Policy Engine  ·  Behavioral Analytics  ·  Adaptive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THE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is SentinelAI?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B9C7DD"/>
                </a:solidFill>
                <a:latin typeface="Calibri"/>
              </a:rPr>
              <a:t>02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6766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B1F2A"/>
                </a:solidFill>
                <a:latin typeface="Calibri"/>
              </a:rPr>
              <a:t>An intelligent enterprise security platform that combines hybrid access-control policies with machine-learning behavioral anomaly detection to identify suspicious activity from authorized or compromised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97480"/>
            <a:ext cx="6766560" cy="12344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/>
          <a:lstStyle/>
          <a:p>
            <a:pPr algn="ctr"/>
            <a:r>
              <a:rPr sz="1500" i="1">
                <a:solidFill>
                  <a:srgbClr val="FFFFFF"/>
                </a:solidFill>
                <a:latin typeface="Calibri"/>
              </a:rPr>
              <a:t>“Authorization determines whether access is permitted by policy;</a:t>
            </a:r>
          </a:p>
          <a:p>
            <a:r>
              <a:rPr sz="1500" i="1" b="1">
                <a:solidFill>
                  <a:srgbClr val="00B4D8"/>
                </a:solidFill>
                <a:latin typeface="Calibri"/>
              </a:rPr>
              <a:t>behavioral risk determines whether the activity requires additional controls.”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60520"/>
            <a:ext cx="6766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SentinelAI COMBINES: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26280"/>
            <a:ext cx="6766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0">
                <a:solidFill>
                  <a:srgbClr val="1B1F2A"/>
                </a:solidFill>
                <a:latin typeface="Calibri"/>
              </a:rPr>
              <a:t>•  Authentication &amp; identity management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0">
                <a:solidFill>
                  <a:srgbClr val="1B1F2A"/>
                </a:solidFill>
                <a:latin typeface="Calibri"/>
              </a:rPr>
              <a:t>•  Hybrid access control (RBAC + MAC + ABAC + TBAC)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0">
                <a:solidFill>
                  <a:srgbClr val="1B1F2A"/>
                </a:solidFill>
                <a:latin typeface="Calibri"/>
              </a:rPr>
              <a:t>•  Behavioral monitoring &amp; centralized auditing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0">
                <a:solidFill>
                  <a:srgbClr val="1B1F2A"/>
                </a:solidFill>
                <a:latin typeface="Calibri"/>
              </a:rPr>
              <a:t>•  ML-based anomaly detection → risk scoring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0">
                <a:solidFill>
                  <a:srgbClr val="1B1F2A"/>
                </a:solidFill>
                <a:latin typeface="Calibri"/>
              </a:rPr>
              <a:t>•  Adaptive security responses (Allow / MFA / Block)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417320"/>
            <a:ext cx="4023360" cy="566928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Identity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093976"/>
            <a:ext cx="4023360" cy="566928"/>
          </a:xfrm>
          <a:prstGeom prst="roundRect">
            <a:avLst>
              <a:gd name="adj" fmla="val 10000"/>
            </a:avLst>
          </a:prstGeom>
          <a:solidFill>
            <a:srgbClr val="142B4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Access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770632"/>
            <a:ext cx="4023360" cy="566928"/>
          </a:xfrm>
          <a:prstGeom prst="roundRect">
            <a:avLst>
              <a:gd name="adj" fmla="val 10000"/>
            </a:avLst>
          </a:prstGeom>
          <a:solidFill>
            <a:srgbClr val="028AA8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447288"/>
            <a:ext cx="4023360" cy="566928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Historical Behavior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46920.0" y="4078224"/>
            <a:ext cx="0.0" cy="301752"/>
          </a:xfrm>
          <a:prstGeom prst="line">
            <a:avLst/>
          </a:prstGeom>
          <a:ln w="28575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35240" y="4416552"/>
            <a:ext cx="4023360" cy="566928"/>
          </a:xfrm>
          <a:prstGeom prst="roundRect">
            <a:avLst>
              <a:gd name="adj" fmla="val 10000"/>
            </a:avLst>
          </a:prstGeom>
          <a:solidFill>
            <a:srgbClr val="F2A619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Risk Analysis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46920.0" y="5020056"/>
            <a:ext cx="0.0" cy="274320"/>
          </a:xfrm>
          <a:prstGeom prst="line">
            <a:avLst/>
          </a:prstGeom>
          <a:ln w="28575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635240" y="5330952"/>
            <a:ext cx="4023360" cy="566928"/>
          </a:xfrm>
          <a:prstGeom prst="roundRect">
            <a:avLst>
              <a:gd name="adj" fmla="val 10000"/>
            </a:avLst>
          </a:prstGeom>
          <a:solidFill>
            <a:srgbClr val="E63946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Adaptive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6E7C"/>
                </a:solidFill>
                <a:latin typeface="Calibri"/>
              </a:rPr>
              <a:t>SentinelAI  |  CBS3002 Information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Why We Chose This Topic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B9C7DD"/>
                </a:solidFill>
                <a:latin typeface="Calibri"/>
              </a:rPr>
              <a:t>03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02920" cy="868680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02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99032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Real-world relevance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3736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46E7C"/>
                </a:solidFill>
                <a:latin typeface="Calibri"/>
              </a:rPr>
              <a:t>Credential compromise &amp; insider misuse are leading causes of breaches; static RBAC alone cannot catch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77440"/>
            <a:ext cx="502920" cy="868680"/>
          </a:xfrm>
          <a:prstGeom prst="roundRect">
            <a:avLst>
              <a:gd name="adj" fmla="val 25000"/>
            </a:avLst>
          </a:prstGeom>
          <a:solidFill>
            <a:srgbClr val="028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502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59152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Gap in traditional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9748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46E7C"/>
                </a:solidFill>
                <a:latin typeface="Calibri"/>
              </a:rPr>
              <a:t>Classic RBAC/MAC/ABAC answer “is this allowed?”, never “is this behavior safe right now?”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37560"/>
            <a:ext cx="502920" cy="868680"/>
          </a:xfrm>
          <a:prstGeom prst="roundRect">
            <a:avLst>
              <a:gd name="adj" fmla="val 25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37560"/>
            <a:ext cx="502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19272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Breadth of CBS3002 syllabus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65760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46E7C"/>
                </a:solidFill>
                <a:latin typeface="Calibri"/>
              </a:rPr>
              <a:t>Lets us apply access-control models, hybrid policies, auditing, IDS and DB security in one integrated system.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97680"/>
            <a:ext cx="502920" cy="868680"/>
          </a:xfrm>
          <a:prstGeom prst="roundRect">
            <a:avLst>
              <a:gd name="adj" fmla="val 25000"/>
            </a:avLst>
          </a:prstGeom>
          <a:solidFill>
            <a:srgbClr val="F2A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297680"/>
            <a:ext cx="502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279392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Practical ML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1772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46E7C"/>
                </a:solidFill>
                <a:latin typeface="Calibri"/>
              </a:rPr>
              <a:t>A genuine, well-scoped use case for anomaly detection rather than ML bolted onto a CRUD app.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57800"/>
            <a:ext cx="502920" cy="868680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257800"/>
            <a:ext cx="502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239512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Resume-worthy &amp; extensible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57784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46E7C"/>
                </a:solidFill>
                <a:latin typeface="Calibri"/>
              </a:rPr>
              <a:t>Combines backend engineering, security architecture, and applied ML — a strong, demo-able portfolio project.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6E7C"/>
                </a:solidFill>
                <a:latin typeface="Calibri"/>
              </a:rPr>
              <a:t>SentinelAI  |  CBS3002 Information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B9C7DD"/>
                </a:solidFill>
                <a:latin typeface="Calibri"/>
              </a:rPr>
              <a:t>04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F2A"/>
                </a:solidFill>
                <a:latin typeface="Calibri"/>
              </a:rPr>
              <a:t>Static authorization (RBAC / MAC / ABAC) only verifies that a user holds valid, permitted credentials — it cannot tell whether the current activity of that account is actually safe.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63946"/>
                </a:solidFill>
                <a:latin typeface="Calibri"/>
              </a:rPr>
              <a:t>CORE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60350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E63946"/>
                </a:solidFill>
                <a:latin typeface="Calibri"/>
              </a:rPr>
              <a:t>•  A legitimate account can be compromised (stolen credentials).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E63946"/>
                </a:solidFill>
                <a:latin typeface="Calibri"/>
              </a:rPr>
              <a:t>•  An authorized employee may abuse legitimate privileges.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E63946"/>
                </a:solidFill>
                <a:latin typeface="Calibri"/>
              </a:rPr>
              <a:t>•  Valid credentials + valid role = requests keep getting ALLOWED even when behavior is highly anomalous.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E63946"/>
                </a:solidFill>
                <a:latin typeface="Calibri"/>
              </a:rPr>
              <a:t>•  No behavioral context, no risk signal, no adaptive response → damage (data exfiltration, privilege abuse) goes undetected until too late.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325880"/>
            <a:ext cx="4800600" cy="41148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Example: an “allowed” account, 7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92938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1874519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Calibri"/>
              </a:rPr>
              <a:t>02:13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1874519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1F2A"/>
                </a:solidFill>
                <a:latin typeface="Calibri"/>
              </a:rPr>
              <a:t>Login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67728" y="2075688"/>
            <a:ext cx="0" cy="310896"/>
          </a:xfrm>
          <a:prstGeom prst="line">
            <a:avLst/>
          </a:prstGeom>
          <a:ln w="19050">
            <a:solidFill>
              <a:srgbClr val="DDE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03720" y="24048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2A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35000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Calibri"/>
              </a:rPr>
              <a:t>02:14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350008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1F2A"/>
                </a:solidFill>
                <a:latin typeface="Calibri"/>
              </a:rPr>
              <a:t>Access 35 confidential files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67728" y="2551176"/>
            <a:ext cx="0" cy="310896"/>
          </a:xfrm>
          <a:prstGeom prst="line">
            <a:avLst/>
          </a:prstGeom>
          <a:ln w="19050">
            <a:solidFill>
              <a:srgbClr val="DDE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03720" y="2880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2A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82549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Calibri"/>
              </a:rPr>
              <a:t>02:16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2825496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1F2A"/>
                </a:solidFill>
                <a:latin typeface="Calibri"/>
              </a:rPr>
              <a:t>Download 18 files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67728" y="3026664"/>
            <a:ext cx="0" cy="310896"/>
          </a:xfrm>
          <a:prstGeom prst="line">
            <a:avLst/>
          </a:prstGeom>
          <a:ln w="19050">
            <a:solidFill>
              <a:srgbClr val="DDE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03720" y="33558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330098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Calibri"/>
              </a:rPr>
              <a:t>02:18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300984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1F2A"/>
                </a:solidFill>
                <a:latin typeface="Calibri"/>
              </a:rPr>
              <a:t>Attempt restricted HR access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67728" y="3502152"/>
            <a:ext cx="0" cy="310896"/>
          </a:xfrm>
          <a:prstGeom prst="line">
            <a:avLst/>
          </a:prstGeom>
          <a:ln w="19050">
            <a:solidFill>
              <a:srgbClr val="DDE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03720" y="3831335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776472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F3A"/>
                </a:solidFill>
                <a:latin typeface="Calibri"/>
              </a:rPr>
              <a:t>02:20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776472"/>
            <a:ext cx="3749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1F2A"/>
                </a:solidFill>
                <a:latin typeface="Calibri"/>
              </a:rPr>
              <a:t>Attempt database access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4343400"/>
            <a:ext cx="4800600" cy="502920"/>
          </a:xfrm>
          <a:prstGeom prst="roundRect">
            <a:avLst>
              <a:gd name="adj" fmla="val 10000"/>
            </a:avLst>
          </a:prstGeom>
          <a:solidFill>
            <a:srgbClr val="FCE9EA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E63946"/>
                </a:solidFill>
                <a:latin typeface="Calibri"/>
              </a:rPr>
              <a:t>Static system: credentials valid → ALLOW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6E7C"/>
                </a:solidFill>
                <a:latin typeface="Calibri"/>
              </a:rPr>
              <a:t>SentinelAI  |  CBS3002 Information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We Are Trying to Achieve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B9C7DD"/>
                </a:solidFill>
                <a:latin typeface="Calibri"/>
              </a:rPr>
              <a:t>05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PRIMARY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486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>
                <a:solidFill>
                  <a:srgbClr val="1B1F2A"/>
                </a:solidFill>
                <a:latin typeface="Calibri"/>
              </a:rPr>
              <a:t>•  Secure authentication &amp; authorization framework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>
                <a:solidFill>
                  <a:srgbClr val="1B1F2A"/>
                </a:solidFill>
                <a:latin typeface="Calibri"/>
              </a:rPr>
              <a:t>•  Multiple access-control models (RBAC, MAC, ABAC, TBAC)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>
                <a:solidFill>
                  <a:srgbClr val="1B1F2A"/>
                </a:solidFill>
                <a:latin typeface="Calibri"/>
              </a:rPr>
              <a:t>•  A hybrid policy engine combining all four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>
                <a:solidFill>
                  <a:srgbClr val="1B1F2A"/>
                </a:solidFill>
                <a:latin typeface="Calibri"/>
              </a:rPr>
              <a:t>•  Centralized, tamper-aware security audit logging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>
                <a:solidFill>
                  <a:srgbClr val="1B1F2A"/>
                </a:solidFill>
                <a:latin typeface="Calibri"/>
              </a:rPr>
              <a:t>•  Model normal user behavior from access patterns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>
                <a:solidFill>
                  <a:srgbClr val="1B1F2A"/>
                </a:solidFill>
                <a:latin typeface="Calibri"/>
              </a:rPr>
              <a:t>•  Detect anomalies with machine learning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>
                <a:solidFill>
                  <a:srgbClr val="1B1F2A"/>
                </a:solidFill>
                <a:latin typeface="Calibri"/>
              </a:rPr>
              <a:t>•  Convert anomaly signal → quantified risk score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>
                <a:solidFill>
                  <a:srgbClr val="1B1F2A"/>
                </a:solidFill>
                <a:latin typeface="Calibri"/>
              </a:rPr>
              <a:t>•  Trigger adaptive responses to high-risk activity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>
                <a:solidFill>
                  <a:srgbClr val="1B1F2A"/>
                </a:solidFill>
                <a:latin typeface="Calibri"/>
              </a:rPr>
              <a:t>•  Give admins understandable, AI-assisted event explanations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28016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28AA8"/>
                </a:solidFill>
                <a:latin typeface="Calibri"/>
              </a:rPr>
              <a:t>SECONDARY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5349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>
                <a:solidFill>
                  <a:srgbClr val="028AA8"/>
                </a:solidFill>
                <a:latin typeface="Calibri"/>
              </a:rPr>
              <a:t>•  Demonstrate practical, applied information-security concepts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>
                <a:solidFill>
                  <a:srgbClr val="028AA8"/>
                </a:solidFill>
                <a:latin typeface="Calibri"/>
              </a:rPr>
              <a:t>•  Provide measurable ML performance (precision / recall / F1)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>
                <a:solidFill>
                  <a:srgbClr val="028AA8"/>
                </a:solidFill>
                <a:latin typeface="Calibri"/>
              </a:rPr>
              <a:t>•  Create realistic, controlled security attack scenarios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400" b="0">
                <a:solidFill>
                  <a:srgbClr val="028AA8"/>
                </a:solidFill>
                <a:latin typeface="Calibri"/>
              </a:rPr>
              <a:t>•  Produce an extensible architecture for future security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11480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/>
          <a:lstStyle/>
          <a:p>
            <a:pPr algn="ctr"/>
            <a:r>
              <a:rPr sz="1500" b="1">
                <a:solidFill>
                  <a:srgbClr val="00B4D8"/>
                </a:solidFill>
                <a:latin typeface="Calibri"/>
              </a:rPr>
              <a:t>Delivered: the full “Resume-Ready Version”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✓ Hybrid access control (RBAC+MAC+ABAC+TBAC+OBAC) + audit logging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✓ ML anomaly detection (Isolation Forest) + blended risk scoring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✓ Adaptive responses (MFA / email / lockout) + React admin dashboard</a:t>
            </a:r>
          </a:p>
          <a:p>
            <a:r>
              <a:rPr sz="1300">
                <a:solidFill>
                  <a:srgbClr val="FFFFFF"/>
                </a:solidFill>
                <a:latin typeface="Calibri"/>
              </a:rPr>
              <a:t>✓ AI incident explanations + full Docker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6E7C"/>
                </a:solidFill>
                <a:latin typeface="Calibri"/>
              </a:rPr>
              <a:t>SentinelAI  |  CBS3002 Information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Beyond Static Authorization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B9C7DD"/>
                </a:solidFill>
                <a:latin typeface="Calibri"/>
              </a:rPr>
              <a:t>06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212080" cy="50292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500" b="1">
                <a:solidFill>
                  <a:srgbClr val="646E7C"/>
                </a:solidFill>
                <a:latin typeface="Calibri"/>
              </a:rPr>
              <a:t>Traditional Access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2120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31720"/>
            <a:ext cx="2103120" cy="59436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331720"/>
            <a:ext cx="2103120" cy="59436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Access Policy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65960" y="2926080"/>
            <a:ext cx="0" cy="365760"/>
          </a:xfrm>
          <a:prstGeom prst="line">
            <a:avLst/>
          </a:prstGeom>
          <a:ln w="28575">
            <a:solidFill>
              <a:srgbClr val="646E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77440" y="2926080"/>
            <a:ext cx="1874520" cy="365760"/>
          </a:xfrm>
          <a:prstGeom prst="line">
            <a:avLst/>
          </a:prstGeom>
          <a:ln w="28575">
            <a:solidFill>
              <a:srgbClr val="646E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3337560"/>
            <a:ext cx="3474720" cy="59436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Allow / Deny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4389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46E7C"/>
                </a:solidFill>
                <a:latin typeface="Calibri"/>
              </a:rPr>
              <a:t>Once credentials + role/attributes check out, access is granted — regardless of how the account behaves afterward.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371600"/>
            <a:ext cx="5212080" cy="5029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SentinelAI Approach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011680"/>
            <a:ext cx="52120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0" y="219456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Identity + 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194560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Context + Behavior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0" y="2651760"/>
            <a:ext cx="0" cy="320040"/>
          </a:xfrm>
          <a:prstGeom prst="line">
            <a:avLst/>
          </a:prstGeom>
          <a:ln w="28575">
            <a:solidFill>
              <a:srgbClr val="028A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138160" y="2651760"/>
            <a:ext cx="2057400" cy="320040"/>
          </a:xfrm>
          <a:prstGeom prst="line">
            <a:avLst/>
          </a:prstGeom>
          <a:ln w="28575">
            <a:solidFill>
              <a:srgbClr val="028A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75120" y="3017520"/>
            <a:ext cx="3931920" cy="502920"/>
          </a:xfrm>
          <a:prstGeom prst="roundRect">
            <a:avLst>
              <a:gd name="adj" fmla="val 10000"/>
            </a:avLst>
          </a:prstGeom>
          <a:solidFill>
            <a:srgbClr val="F2A619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Risk Analysis (ML)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41080" y="3520440"/>
            <a:ext cx="0" cy="320040"/>
          </a:xfrm>
          <a:prstGeom prst="line">
            <a:avLst/>
          </a:prstGeom>
          <a:ln w="28575">
            <a:solidFill>
              <a:srgbClr val="028AA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75120" y="3886200"/>
            <a:ext cx="3931920" cy="502920"/>
          </a:xfrm>
          <a:prstGeom prst="roundRect">
            <a:avLst>
              <a:gd name="adj" fmla="val 10000"/>
            </a:avLst>
          </a:prstGeom>
          <a:solidFill>
            <a:srgbClr val="E63946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Adaptive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5262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ALLOW • MFA/EMAIL • BLOCK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0292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46E7C"/>
                </a:solidFill>
                <a:latin typeface="Calibri"/>
              </a:rPr>
              <a:t>Same valid credentials, but abnormal behavior escalates the response — repeat offenders get locked out for admin review.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6E7C"/>
                </a:solidFill>
                <a:latin typeface="Calibri"/>
              </a:rPr>
              <a:t>SentinelAI  |  CBS3002 Information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Hybrid Policy Engine: RBAC + MAC + ABAC + TBAC + OBAC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B9C7DD"/>
                </a:solidFill>
                <a:latin typeface="Calibri"/>
              </a:rPr>
              <a:t>07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2697480" cy="7772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RBAC</a:t>
            </a:r>
          </a:p>
          <a:p>
            <a:pPr algn="ctr"/>
            <a:r>
              <a:rPr sz="1150">
                <a:solidFill>
                  <a:srgbClr val="EAF2FB"/>
                </a:solidFill>
                <a:latin typeface="Calibri"/>
              </a:rPr>
              <a:t>Role-Based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150">
                <a:solidFill>
                  <a:srgbClr val="1B1F2A"/>
                </a:solidFill>
                <a:latin typeface="Calibri"/>
              </a:rPr>
              <a:t>Access depends on the user's role
(Finance → Financial Reports)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71600"/>
            <a:ext cx="2697480" cy="777240"/>
          </a:xfrm>
          <a:prstGeom prst="roundRect">
            <a:avLst>
              <a:gd name="adj" fmla="val 10000"/>
            </a:avLst>
          </a:prstGeom>
          <a:solidFill>
            <a:srgbClr val="028AA8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MAC</a:t>
            </a:r>
          </a:p>
          <a:p>
            <a:pPr algn="ctr"/>
            <a:r>
              <a:rPr sz="1150">
                <a:solidFill>
                  <a:srgbClr val="EAF2FB"/>
                </a:solidFill>
                <a:latin typeface="Calibri"/>
              </a:rPr>
              <a:t>Mandatory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2402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150">
                <a:solidFill>
                  <a:srgbClr val="1B1F2A"/>
                </a:solidFill>
                <a:latin typeface="Calibri"/>
              </a:rPr>
              <a:t>Resource classification vs. user clearance
(PUBLIC &lt; CONFIDENTIAL &lt; SECRET &lt; TOP_SECRET)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2697480" cy="77724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ABAC</a:t>
            </a:r>
          </a:p>
          <a:p>
            <a:pPr algn="ctr"/>
            <a:r>
              <a:rPr sz="1150">
                <a:solidFill>
                  <a:srgbClr val="EAF2FB"/>
                </a:solidFill>
                <a:latin typeface="Calibri"/>
              </a:rPr>
              <a:t>Attribute-Based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2402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150">
                <a:solidFill>
                  <a:srgbClr val="1B1F2A"/>
                </a:solidFill>
                <a:latin typeface="Calibri"/>
              </a:rPr>
              <a:t>Department match + trusted device
required for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371600"/>
            <a:ext cx="2697480" cy="777240"/>
          </a:xfrm>
          <a:prstGeom prst="roundRect">
            <a:avLst>
              <a:gd name="adj" fmla="val 10000"/>
            </a:avLst>
          </a:prstGeom>
          <a:solidFill>
            <a:srgbClr val="F2A619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TBAC</a:t>
            </a:r>
          </a:p>
          <a:p>
            <a:pPr algn="ctr"/>
            <a:r>
              <a:rPr sz="1150">
                <a:solidFill>
                  <a:srgbClr val="EAF2FB"/>
                </a:solidFill>
                <a:latin typeface="Calibri"/>
              </a:rPr>
              <a:t>Time-Based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2402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150">
                <a:solidFill>
                  <a:srgbClr val="1B1F2A"/>
                </a:solidFill>
                <a:latin typeface="Calibri"/>
              </a:rPr>
              <a:t>Access allowed only within a
defined time window (e.g. 09:00–18:00)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77639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COMPOSITION RULE: AND (all must pass)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3484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RBAC: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4681728"/>
            <a:ext cx="274320" cy="0"/>
          </a:xfrm>
          <a:prstGeom prst="line">
            <a:avLst/>
          </a:prstGeom>
          <a:ln w="19050">
            <a:solidFill>
              <a:srgbClr val="646E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194560" y="443484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MAC: PASS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11880" y="4681728"/>
            <a:ext cx="274320" cy="0"/>
          </a:xfrm>
          <a:prstGeom prst="line">
            <a:avLst/>
          </a:prstGeom>
          <a:ln w="19050">
            <a:solidFill>
              <a:srgbClr val="646E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886200" y="443484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ABAC: PASS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03520" y="4681728"/>
            <a:ext cx="274320" cy="0"/>
          </a:xfrm>
          <a:prstGeom prst="line">
            <a:avLst/>
          </a:prstGeom>
          <a:ln w="19050">
            <a:solidFill>
              <a:srgbClr val="646E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577840" y="443484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TBAC: FAIL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95159" y="4681728"/>
            <a:ext cx="411481" cy="0"/>
          </a:xfrm>
          <a:prstGeom prst="line">
            <a:avLst/>
          </a:prstGeom>
          <a:ln w="19050">
            <a:solidFill>
              <a:srgbClr val="646E7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06640" y="443484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FINAL: DENY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212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646E7C"/>
                </a:solidFill>
                <a:latin typeface="Calibri"/>
              </a:rPr>
              <a:t>A single failing dimension overrides all passing ones — e.g. an otherwise fully-authorized request outside business hours is still denied by TBAC. A 5th, opt-in layer (OBAC) adds per-action rules on top — e.g. only Admins can DELETE — without ever loosening the first four.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6E7C"/>
                </a:solidFill>
                <a:latin typeface="Calibri"/>
              </a:rPr>
              <a:t>SentinelAI  |  CBS3002 Information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B9C7DD"/>
                </a:solidFill>
                <a:latin typeface="Calibri"/>
              </a:rPr>
              <a:t>08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234440"/>
            <a:ext cx="2377440" cy="438912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Client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1673352"/>
            <a:ext cx="0" cy="201167"/>
          </a:xfrm>
          <a:prstGeom prst="line">
            <a:avLst/>
          </a:prstGeom>
          <a:ln w="25400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874519"/>
            <a:ext cx="2377440" cy="438912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Authentication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2313432"/>
            <a:ext cx="0" cy="201168"/>
          </a:xfrm>
          <a:prstGeom prst="line">
            <a:avLst/>
          </a:prstGeom>
          <a:ln w="25400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60320" y="2514600"/>
            <a:ext cx="2743200" cy="438912"/>
          </a:xfrm>
          <a:prstGeom prst="roundRect">
            <a:avLst>
              <a:gd name="adj" fmla="val 10000"/>
            </a:avLst>
          </a:prstGeom>
          <a:solidFill>
            <a:srgbClr val="142B4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Access Request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194560" y="2953512"/>
            <a:ext cx="1188719" cy="292608"/>
          </a:xfrm>
          <a:prstGeom prst="line">
            <a:avLst/>
          </a:prstGeom>
          <a:ln w="25400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80559" y="2953512"/>
            <a:ext cx="1188721" cy="292608"/>
          </a:xfrm>
          <a:prstGeom prst="line">
            <a:avLst/>
          </a:prstGeom>
          <a:ln w="25400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5840" y="3246120"/>
            <a:ext cx="23774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>
                <a:solidFill>
                  <a:srgbClr val="0B1F3A"/>
                </a:solidFill>
                <a:latin typeface="Calibri"/>
              </a:rPr>
              <a:t>Policy Engine</a:t>
            </a:r>
          </a:p>
          <a:p>
            <a:pPr algn="ctr"/>
            <a:r>
              <a:rPr sz="1050">
                <a:solidFill>
                  <a:srgbClr val="646E7C"/>
                </a:solidFill>
                <a:latin typeface="Calibri"/>
              </a:rPr>
              <a:t>RBAC · MAC · ABAC · TBAC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246120"/>
            <a:ext cx="23774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>
                <a:solidFill>
                  <a:srgbClr val="0B1F3A"/>
                </a:solidFill>
                <a:latin typeface="Calibri"/>
              </a:rPr>
              <a:t>Risk Engine</a:t>
            </a:r>
          </a:p>
          <a:p>
            <a:pPr algn="ctr"/>
            <a:r>
              <a:rPr sz="1050">
                <a:solidFill>
                  <a:srgbClr val="646E7C"/>
                </a:solidFill>
                <a:latin typeface="Calibri"/>
              </a:rPr>
              <a:t>Behavioral features → ML anomaly detection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94560" y="4114800"/>
            <a:ext cx="1280160" cy="228600"/>
          </a:xfrm>
          <a:prstGeom prst="line">
            <a:avLst/>
          </a:prstGeom>
          <a:ln w="25400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389120" y="4114800"/>
            <a:ext cx="1280160" cy="228600"/>
          </a:xfrm>
          <a:prstGeom prst="line">
            <a:avLst/>
          </a:prstGeom>
          <a:ln w="25400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560320" y="434340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2A619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>
                <a:solidFill>
                  <a:srgbClr val="0B1F3A"/>
                </a:solidFill>
                <a:latin typeface="Calibri"/>
              </a:rPr>
              <a:t>Decision Engine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560320" y="4800600"/>
            <a:ext cx="548640" cy="274320"/>
          </a:xfrm>
          <a:prstGeom prst="line">
            <a:avLst/>
          </a:prstGeom>
          <a:ln w="25400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31920" y="4800600"/>
            <a:ext cx="0" cy="274320"/>
          </a:xfrm>
          <a:prstGeom prst="line">
            <a:avLst/>
          </a:prstGeom>
          <a:ln w="25400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54880" y="4800600"/>
            <a:ext cx="548640" cy="274320"/>
          </a:xfrm>
          <a:prstGeom prst="line">
            <a:avLst/>
          </a:prstGeom>
          <a:ln w="25400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965960" y="5074920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ALLOW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5074920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F2A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50" b="1">
                <a:solidFill>
                  <a:srgbClr val="0B1F3A"/>
                </a:solidFill>
                <a:latin typeface="Calibri"/>
              </a:rPr>
              <a:t>MFA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5074920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31920" y="5513832"/>
            <a:ext cx="0" cy="228600"/>
          </a:xfrm>
          <a:prstGeom prst="line">
            <a:avLst/>
          </a:prstGeom>
          <a:ln w="25400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36295" y="5779008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142B4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Audit Service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33775" y="6007608"/>
            <a:ext cx="109728" cy="0"/>
          </a:xfrm>
          <a:prstGeom prst="line">
            <a:avLst/>
          </a:prstGeom>
          <a:ln w="22225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343503" y="5779008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028AA8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40983" y="6007608"/>
            <a:ext cx="109728" cy="0"/>
          </a:xfrm>
          <a:prstGeom prst="line">
            <a:avLst/>
          </a:prstGeom>
          <a:ln w="22225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50711" y="5779008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48191" y="6007608"/>
            <a:ext cx="109728" cy="0"/>
          </a:xfrm>
          <a:prstGeom prst="line">
            <a:avLst/>
          </a:prstGeom>
          <a:ln w="22225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57919" y="5779008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E63946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AI Analyst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12801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0" i="0">
                <a:solidFill>
                  <a:srgbClr val="1B1F2A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6E7C"/>
                </a:solidFill>
                <a:latin typeface="Calibri"/>
              </a:rPr>
              <a:t>SentinelAI  |  CBS3002 Information 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BEHAVIORAL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Risk Scoring &amp; Adaptive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B9C7DD"/>
                </a:solidFill>
                <a:latin typeface="Calibri"/>
              </a:rPr>
              <a:t>09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BEHAVIORAL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6692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1F2A"/>
                </a:solidFill>
                <a:latin typeface="Calibri"/>
              </a:rPr>
              <a:t>•  Login hour &amp; failed-login count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1F2A"/>
                </a:solidFill>
                <a:latin typeface="Calibri"/>
              </a:rPr>
              <a:t>•  Number of resources accessed / downloads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1F2A"/>
                </a:solidFill>
                <a:latin typeface="Calibri"/>
              </a:rPr>
              <a:t>•  Request frequency &amp; resource sensitivity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1F2A"/>
                </a:solidFill>
                <a:latin typeface="Calibri"/>
              </a:rPr>
              <a:t>•  Location &amp; device familiarity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1F2A"/>
                </a:solidFill>
                <a:latin typeface="Calibri"/>
              </a:rPr>
              <a:t>•  Access outside normal hours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1F2A"/>
                </a:solidFill>
                <a:latin typeface="Calibri"/>
              </a:rPr>
              <a:t>•  Number of denied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RISK SCORE RESPONSE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0624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4261103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1F2A"/>
                </a:solidFill>
                <a:latin typeface="Calibri"/>
              </a:rPr>
              <a:t>Allow and 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66344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2A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31–60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718303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1F2A"/>
                </a:solidFill>
                <a:latin typeface="Calibri"/>
              </a:rPr>
              <a:t>Allow, increase monitoring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12064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61–80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175503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1F2A"/>
                </a:solidFill>
                <a:latin typeface="Calibri"/>
              </a:rPr>
              <a:t>Require step-up: MFA, else emailed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57784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81–100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632703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1F2A"/>
                </a:solidFill>
                <a:latin typeface="Calibri"/>
              </a:rPr>
              <a:t>Block + security alert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137160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Behavioral Event Stream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98280" y="1920240"/>
            <a:ext cx="0" cy="228600"/>
          </a:xfrm>
          <a:prstGeom prst="line">
            <a:avLst/>
          </a:prstGeom>
          <a:ln w="28575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675120" y="214884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142B4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Feature Extraction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98280" y="2697480"/>
            <a:ext cx="0" cy="228600"/>
          </a:xfrm>
          <a:prstGeom prst="line">
            <a:avLst/>
          </a:prstGeom>
          <a:ln w="28575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675120" y="2926080"/>
            <a:ext cx="4846320" cy="685800"/>
          </a:xfrm>
          <a:prstGeom prst="roundRect">
            <a:avLst>
              <a:gd name="adj" fmla="val 10000"/>
            </a:avLst>
          </a:prstGeom>
          <a:solidFill>
            <a:srgbClr val="028AA8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ML Anomaly Detection
(Isolation Forest)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98280" y="3611880"/>
            <a:ext cx="0" cy="228600"/>
          </a:xfrm>
          <a:prstGeom prst="line">
            <a:avLst/>
          </a:prstGeom>
          <a:ln w="28575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675120" y="384048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F2A619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Risk Score (0–100)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98280" y="4389120"/>
            <a:ext cx="0" cy="228600"/>
          </a:xfrm>
          <a:prstGeom prst="line">
            <a:avLst/>
          </a:prstGeom>
          <a:ln w="28575">
            <a:solidFill>
              <a:srgbClr val="142B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675120" y="461772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E63946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Adaptive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25780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646E7C"/>
                </a:solidFill>
                <a:latin typeface="Calibri"/>
              </a:rPr>
              <a:t>Authorization stays deterministic; ML only adjusts the strength of the response.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6E7C"/>
                </a:solidFill>
                <a:latin typeface="Calibri"/>
              </a:rPr>
              <a:t>SentinelAI  |  CBS3002 Information Security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Development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B9C7DD"/>
                </a:solidFill>
                <a:latin typeface="Calibri"/>
              </a:rPr>
              <a:t>10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457200" cy="658368"/>
          </a:xfrm>
          <a:prstGeom prst="roundRect">
            <a:avLst>
              <a:gd name="adj" fmla="val 3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38988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Calibri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00784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6E7C"/>
                </a:solidFill>
                <a:latin typeface="Calibri"/>
              </a:rPr>
              <a:t>Architecture, PostgreSQL, auth, user &amp; resource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20" y="1481328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93976"/>
            <a:ext cx="457200" cy="658368"/>
          </a:xfrm>
          <a:prstGeom prst="roundRect">
            <a:avLst>
              <a:gd name="adj" fmla="val 3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93976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11226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Calibri"/>
              </a:rPr>
              <a:t>Access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23160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6E7C"/>
                </a:solidFill>
                <a:latin typeface="Calibri"/>
              </a:rPr>
              <a:t>RBAC, MAC, ABAC, TBAC, hybrid policy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04120" y="2203704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816352"/>
            <a:ext cx="457200" cy="658368"/>
          </a:xfrm>
          <a:prstGeom prst="roundRect">
            <a:avLst>
              <a:gd name="adj" fmla="val 3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16352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83464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Calibri"/>
              </a:rPr>
              <a:t>Security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145536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6E7C"/>
                </a:solidFill>
                <a:latin typeface="Calibri"/>
              </a:rPr>
              <a:t>Centralized audit log, SecurityAlert lifecycle, admin alert queue, 5 encoded attack scenarios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292608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50" b="1">
                <a:solidFill>
                  <a:srgbClr val="0B1F3A"/>
                </a:solidFill>
                <a:latin typeface="Calibri"/>
              </a:rPr>
              <a:t>DONE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538728"/>
            <a:ext cx="457200" cy="658368"/>
          </a:xfrm>
          <a:prstGeom prst="roundRect">
            <a:avLst>
              <a:gd name="adj" fmla="val 3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38728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557016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Calibri"/>
              </a:rPr>
              <a:t>Machine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67912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6E7C"/>
                </a:solidFill>
                <a:latin typeface="Calibri"/>
              </a:rPr>
              <a:t>Synthetic dataset, 9-feature extraction, trained Isolation Forest, full precision/recall/F1/ROC-AUC evaluation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3648456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261104"/>
            <a:ext cx="457200" cy="658368"/>
          </a:xfrm>
          <a:prstGeom prst="roundRect">
            <a:avLst>
              <a:gd name="adj" fmla="val 3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261104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27939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Calibri"/>
              </a:rPr>
              <a:t>Adaptive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590288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6E7C"/>
                </a:solidFill>
                <a:latin typeface="Calibri"/>
              </a:rPr>
              <a:t>Blended risk engine, graduated step-up (TOTP MFA or emailed code), auto-block, repeated-abuse lockout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4370832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83480"/>
            <a:ext cx="457200" cy="658368"/>
          </a:xfrm>
          <a:prstGeom prst="roundRect">
            <a:avLst>
              <a:gd name="adj" fmla="val 3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83480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00176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Calibri"/>
              </a:rPr>
              <a:t>AI Analyst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312664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6E7C"/>
                </a:solidFill>
                <a:latin typeface="Calibri"/>
              </a:rPr>
              <a:t>Anthropic-powered alert explanations, deterministic template fallback, strictly advisory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5093208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705856"/>
            <a:ext cx="457200" cy="658368"/>
          </a:xfrm>
          <a:prstGeom prst="roundRect">
            <a:avLst>
              <a:gd name="adj" fmla="val 3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705856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572414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Calibri"/>
              </a:rPr>
              <a:t>Finalization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6035040"/>
            <a:ext cx="7680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6E7C"/>
                </a:solidFill>
                <a:latin typeface="Calibri"/>
              </a:rPr>
              <a:t>React admin console, full Docker Compose stack, architecture/security/threat-model docs, 81 tests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04120" y="5815584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6E7C"/>
                </a:solidFill>
                <a:latin typeface="Calibri"/>
              </a:rPr>
              <a:t>SentinelAI  |  CBS3002 Information Security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Final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B9C7DD"/>
                </a:solidFill>
                <a:latin typeface="Calibri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C4B6"/>
                </a:solidFill>
                <a:latin typeface="Calibri"/>
              </a:rPr>
              <a:t>IMPLEMENTED (All 7 Phases)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6400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2EC4B6"/>
                </a:solidFill>
                <a:latin typeface="Calibri"/>
              </a:rPr>
              <a:t>✓  FastAPI backend, 8 modular routers (auth, users, resources, policies, risk, alerts, ai, audit)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2EC4B6"/>
                </a:solidFill>
                <a:latin typeface="Calibri"/>
              </a:rPr>
              <a:t>✓  JWT auth, bcrypt hashing, account lockout, admin reactivation workflow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2EC4B6"/>
                </a:solidFill>
                <a:latin typeface="Calibri"/>
              </a:rPr>
              <a:t>✓  Hybrid Policy Engine: RBAC + MAC + ABAC + TBAC + OBAC + admin override grants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2EC4B6"/>
                </a:solidFill>
                <a:latin typeface="Calibri"/>
              </a:rPr>
              <a:t>✓  Trained Isolation Forest blended with rule-based scoring into a 0–100 risk score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2EC4B6"/>
                </a:solidFill>
                <a:latin typeface="Calibri"/>
              </a:rPr>
              <a:t>✓  Adaptive response: step-up MFA/email verification, auto-block, repeated-abuse lockout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2EC4B6"/>
                </a:solidFill>
                <a:latin typeface="Calibri"/>
              </a:rPr>
              <a:t>✓  Centralized audit log, SecurityAlert lifecycle, AI-assisted incident explanations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2EC4B6"/>
                </a:solidFill>
                <a:latin typeface="Calibri"/>
              </a:rPr>
              <a:t>✓  81 automated tests incl. 5 encoded attack scenarios — all passing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2EC4B6"/>
                </a:solidFill>
                <a:latin typeface="Calibri"/>
              </a:rPr>
              <a:t>✓  React admin console + full Docker Compose stack (Postgres + FastAPI + React)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28016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COMPLETION BY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69164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1F2A"/>
                </a:solidFill>
                <a:latin typeface="Calibri"/>
              </a:rPr>
              <a:t>Foundation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984248"/>
            <a:ext cx="4480560" cy="201168"/>
          </a:xfrm>
          <a:prstGeom prst="roundRect">
            <a:avLst>
              <a:gd name="adj" fmla="val 50000"/>
            </a:avLst>
          </a:prstGeom>
          <a:solidFill>
            <a:srgbClr val="DD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984248"/>
            <a:ext cx="4480560" cy="20116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92840" y="16916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6E7C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2585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1F2A"/>
                </a:solidFill>
                <a:latin typeface="Calibri"/>
              </a:rPr>
              <a:t>Access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2551176"/>
            <a:ext cx="4480560" cy="201168"/>
          </a:xfrm>
          <a:prstGeom prst="roundRect">
            <a:avLst>
              <a:gd name="adj" fmla="val 50000"/>
            </a:avLst>
          </a:prstGeom>
          <a:solidFill>
            <a:srgbClr val="DD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60" y="2551176"/>
            <a:ext cx="4480560" cy="20116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92840" y="22585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6E7C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82549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1F2A"/>
                </a:solidFill>
                <a:latin typeface="Calibri"/>
              </a:rPr>
              <a:t>Security Monitoring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3118104"/>
            <a:ext cx="4480560" cy="201168"/>
          </a:xfrm>
          <a:prstGeom prst="roundRect">
            <a:avLst>
              <a:gd name="adj" fmla="val 50000"/>
            </a:avLst>
          </a:prstGeom>
          <a:solidFill>
            <a:srgbClr val="DD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23760" y="3118104"/>
            <a:ext cx="4480560" cy="20116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92840" y="282549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6E7C"/>
                </a:solidFill>
                <a:latin typeface="Calibr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3924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1F2A"/>
                </a:solidFill>
                <a:latin typeface="Calibri"/>
              </a:rPr>
              <a:t>Machine Learning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685032"/>
            <a:ext cx="4480560" cy="201168"/>
          </a:xfrm>
          <a:prstGeom prst="roundRect">
            <a:avLst>
              <a:gd name="adj" fmla="val 50000"/>
            </a:avLst>
          </a:prstGeom>
          <a:solidFill>
            <a:srgbClr val="DD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1f"/>
          <p:cNvSpPr/>
          <p:nvPr/>
        </p:nvSpPr>
        <p:spPr>
          <a:xfrm>
            <a:off x="7223760" y="3685032"/>
            <a:ext cx="4480560" cy="20116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92840" y="339242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6E7C"/>
                </a:solidFill>
                <a:latin typeface="Calibr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95935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1F2A"/>
                </a:solidFill>
                <a:latin typeface="Calibri"/>
              </a:rPr>
              <a:t>Adaptive Security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4251960"/>
            <a:ext cx="4480560" cy="201168"/>
          </a:xfrm>
          <a:prstGeom prst="roundRect">
            <a:avLst>
              <a:gd name="adj" fmla="val 50000"/>
            </a:avLst>
          </a:prstGeom>
          <a:solidFill>
            <a:srgbClr val="DD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2f"/>
          <p:cNvSpPr/>
          <p:nvPr/>
        </p:nvSpPr>
        <p:spPr>
          <a:xfrm>
            <a:off x="7223760" y="4251960"/>
            <a:ext cx="4480560" cy="20116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92840" y="39593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6E7C"/>
                </a:solidFill>
                <a:latin typeface="Calibri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5262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B1F2A"/>
                </a:solidFill>
                <a:latin typeface="Calibri"/>
              </a:rPr>
              <a:t>AI Analyst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4818888"/>
            <a:ext cx="4480560" cy="201168"/>
          </a:xfrm>
          <a:prstGeom prst="roundRect">
            <a:avLst>
              <a:gd name="adj" fmla="val 50000"/>
            </a:avLst>
          </a:prstGeom>
          <a:solidFill>
            <a:srgbClr val="DDE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ounded Rectangle 203f"/>
          <p:cNvSpPr/>
          <p:nvPr/>
        </p:nvSpPr>
        <p:spPr>
          <a:xfrm>
            <a:off x="7223760" y="4818888"/>
            <a:ext cx="4480560" cy="20116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92840" y="45262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46E7C"/>
                </a:solidFill>
                <a:latin typeface="Calibri"/>
              </a:rPr>
              <a:t>100%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5349240"/>
            <a:ext cx="4480560" cy="9601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ctr"/>
            <a:r>
              <a:rPr sz="1500" b="1">
                <a:solidFill>
                  <a:srgbClr val="00B4D8"/>
                </a:solidFill>
                <a:latin typeface="Calibri"/>
              </a:rPr>
              <a:t>Overall project completion: 100%</a:t>
            </a:r>
          </a:p>
          <a:p>
            <a:r>
              <a:rPr sz="1150">
                <a:solidFill>
                  <a:srgbClr val="FFFFFF"/>
                </a:solidFill>
                <a:latin typeface="Calibri"/>
              </a:rPr>
              <a:t>All seven phases delivered — hybrid policy engine, ML risk scoring, adaptive response, AI analyst, admin console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6E7C"/>
                </a:solidFill>
                <a:latin typeface="Calibri"/>
              </a:rPr>
              <a:t>SentinelAI  |  CBS3002 Information 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Testing: Simulated Attack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B9C7DD"/>
                </a:solidFill>
                <a:latin typeface="Calibri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46E7C"/>
                </a:solidFill>
                <a:latin typeface="Calibri"/>
              </a:rPr>
              <a:t>Each scenario from the threat model is encoded as an automated pytest case against a live FastAPI test client.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61288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4114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20240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20240"/>
            <a:ext cx="4343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Simulated Behavior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920240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Expected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1920240"/>
            <a:ext cx="1143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86000"/>
            <a:ext cx="11612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77440"/>
            <a:ext cx="38404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377440"/>
            <a:ext cx="212140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Brute Force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377440"/>
            <a:ext cx="431596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Repeated failed logins against one 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377440"/>
            <a:ext cx="2852927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Account LOCKED + all attempts audited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0" y="244144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944368"/>
            <a:ext cx="11612880" cy="658368"/>
          </a:xfrm>
          <a:prstGeom prst="rect">
            <a:avLst/>
          </a:prstGeom>
          <a:solidFill>
            <a:srgbClr val="F0F3F8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035808"/>
            <a:ext cx="38404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035808"/>
            <a:ext cx="212140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Credential Compromise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035808"/>
            <a:ext cx="431596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Unusual login time + unknown device on valid credentials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035808"/>
            <a:ext cx="2852927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Flagged despite valid credentials (risk layer)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0" y="3099815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602735"/>
            <a:ext cx="11612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694175"/>
            <a:ext cx="38404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694175"/>
            <a:ext cx="212140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Privilege Abuse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694175"/>
            <a:ext cx="431596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Authorized user requests a role-restricted resource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694175"/>
            <a:ext cx="2852927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DENIED by RBAC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0" y="3758183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261103"/>
            <a:ext cx="11612880" cy="658368"/>
          </a:xfrm>
          <a:prstGeom prst="rect">
            <a:avLst/>
          </a:prstGeom>
          <a:solidFill>
            <a:srgbClr val="F0F3F8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352543"/>
            <a:ext cx="38404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352543"/>
            <a:ext cx="212140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Policy Violation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352543"/>
            <a:ext cx="431596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User clearance below resource classification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4352543"/>
            <a:ext cx="2852927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DENIED by MAC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0" y="4416551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2920" y="4919471"/>
            <a:ext cx="11612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94360" y="5010911"/>
            <a:ext cx="38404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43000" y="5010911"/>
            <a:ext cx="212140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Mass Download / Exfiltration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29000" y="5010911"/>
            <a:ext cx="4315968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High-frequency downloads across many resources in a short window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09560" y="5010911"/>
            <a:ext cx="2852927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1F2A"/>
                </a:solidFill>
                <a:latin typeface="Calibri"/>
              </a:rPr>
              <a:t>Risk score spikes → BLOCK + CRITICAL alert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972800" y="5074919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760719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81 automated tests across auth, policy engine, risk/adaptive security, resource access, audit and alert modules — all passing.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6E7C"/>
                </a:solidFill>
                <a:latin typeface="Calibri"/>
              </a:rPr>
              <a:t>SentinelAI  |  CBS3002 Information Security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Tools &amp; Technology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B9C7DD"/>
                </a:solidFill>
                <a:latin typeface="Calibri"/>
              </a:rPr>
              <a:t>13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657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92807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Python 3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FastAPI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SQLAlchemy (ORM)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Pydantic / pydantic-settings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E63946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3657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92807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bcrypt (password hashing)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PyJWT (access tokens)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OAuth2 password bearer flow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pyotp (TOTP) + smtplib (email step-up)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2588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028AA8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783080"/>
            <a:ext cx="3657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1892807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PostgreSQL 16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Raw SQL schema (schema.sql)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0896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2A619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66160"/>
            <a:ext cx="3657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75887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Pandas / NumPy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Scikit-learn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Isolation Forest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Anthropic API (AI analyst)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10896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566160"/>
            <a:ext cx="3657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675887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React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Vite (dev server &amp; build)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Fetch-based API client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10896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142B4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Testing &amp; DevOps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3566160"/>
            <a:ext cx="3657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3675887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Pytest + httpx (81 tests)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Docker Compose (db + backend + frontend)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B1F2A"/>
                </a:solidFill>
                <a:latin typeface="Calibri"/>
              </a:rPr>
              <a:t>•  Git / 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6E7C"/>
                </a:solidFill>
                <a:latin typeface="Calibri"/>
              </a:rPr>
              <a:t>SentinelAI  |  CBS3002 Information Security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Edge Cases We Handled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B9C7DD"/>
                </a:solidFill>
                <a:latin typeface="Calibri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646E7C"/>
                </a:solidFill>
                <a:latin typeface="Calibri"/>
              </a:rPr>
              <a:t>A few deliberate design decisions that matter more than they look — each one backed by a test in the 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CE9EA"/>
          </a:solidFill>
          <a:ln w="9525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MFA Not Configured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792224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46E7C"/>
                </a:solidFill>
                <a:latin typeface="Calibri"/>
              </a:rPr>
              <a:t>Step-up falls back to a one-time emailed code instead of leaving the user stuck — /auth/email-verify/verify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14015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CE9EA"/>
          </a:solidFill>
          <a:ln w="9525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865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Repeated Abuse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395727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46E7C"/>
                </a:solidFill>
                <a:latin typeface="Calibri"/>
              </a:rPr>
              <a:t>Enough step-up challenges or blocks in a row auto-locks the account — same mechanism as login brute-force, pending admin reactivation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1752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CE9EA"/>
          </a:solidFill>
          <a:ln w="9525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9008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Policy DENY vs. Risk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999232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46E7C"/>
                </a:solidFill>
                <a:latin typeface="Calibri"/>
              </a:rPr>
              <a:t>A policy DENY can never be overridden by a low risk score — authorization and behavioral risk are deliberately separate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2102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CE9EA"/>
          </a:solidFill>
          <a:ln w="9525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9359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Admin Override Grants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60273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46E7C"/>
                </a:solidFill>
                <a:latin typeface="Calibri"/>
              </a:rPr>
              <a:t>A ResourceGrant can bypass RBAC/MAC/ABAC/TBAC/OBAC for one user, but never the risk engine — a granted user acting suspiciously can still be blocked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22452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CE9EA"/>
          </a:solidFill>
          <a:ln w="9525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97096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OBAC Is Additive, Never Loosening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206240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46E7C"/>
                </a:solidFill>
                <a:latin typeface="Calibri"/>
              </a:rPr>
              <a:t>Opt-in per (resource, action); no matching rule passes trivially — OBAC only adds restrictions on top of the other four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82803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CE9EA"/>
          </a:solidFill>
          <a:ln w="9525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060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Password-Hashing Edge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809744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46E7C"/>
                </a:solidFill>
                <a:latin typeface="Calibri"/>
              </a:rPr>
              <a:t>Passwords are explicitly capped at 72 bytes before bcrypt hashing — bcrypt silently truncates beyond that, so we reject rather than risk a hash collision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315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CE9EA"/>
          </a:solidFill>
          <a:ln w="9525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0410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Missing ML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413248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46E7C"/>
                </a:solidFill>
                <a:latin typeface="Calibri"/>
              </a:rPr>
              <a:t>If the trained Isolation Forest artifact is absent, the risk engine falls back cleanly to rule-based scoring only — no crash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6E7C"/>
                </a:solidFill>
                <a:latin typeface="Calibri"/>
              </a:rPr>
              <a:t>SentinelAI  |  CBS3002 Information Security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B4D8"/>
                </a:solidFill>
                <a:latin typeface="Calibr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B9C7DD"/>
                </a:solidFill>
                <a:latin typeface="Calibri"/>
              </a:rPr>
              <a:t>15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Who Needs This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3611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154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1B1F2A"/>
                </a:solidFill>
                <a:latin typeface="Calibri"/>
              </a:rPr>
              <a:t>•  SOC analysts triaging alerts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1B1F2A"/>
                </a:solidFill>
                <a:latin typeface="Calibri"/>
              </a:rPr>
              <a:t>•  Enterprise IT managing access sprawl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1B1F2A"/>
                </a:solidFill>
                <a:latin typeface="Calibri"/>
              </a:rPr>
              <a:t>•  Compliance teams needing an audit trail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37160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028AA8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What It Stops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1920240"/>
            <a:ext cx="3611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148840"/>
            <a:ext cx="3154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1B1F2A"/>
                </a:solidFill>
                <a:latin typeface="Calibri"/>
              </a:rPr>
              <a:t>•  Stolen-credential logins at odd hours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1B1F2A"/>
                </a:solidFill>
                <a:latin typeface="Calibri"/>
              </a:rPr>
              <a:t>•  Silent privilege abuse by authorized staff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1B1F2A"/>
                </a:solidFill>
                <a:latin typeface="Calibri"/>
              </a:rPr>
              <a:t>•  Mass data exfiltration before anyone notices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137160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2A619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Beyond This Submission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1920240"/>
            <a:ext cx="361188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148840"/>
            <a:ext cx="3154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1B1F2A"/>
                </a:solidFill>
                <a:latin typeface="Calibri"/>
              </a:rPr>
              <a:t>•  Continuous authentication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1B1F2A"/>
                </a:solidFill>
                <a:latin typeface="Calibri"/>
              </a:rPr>
              <a:t>•  Device fingerprinting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1B1F2A"/>
                </a:solidFill>
                <a:latin typeface="Calibri"/>
              </a:rPr>
              <a:t>•  Explainable ML for analyst trust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0">
                <a:solidFill>
                  <a:srgbClr val="1B1F2A"/>
                </a:solidFill>
                <a:latin typeface="Calibri"/>
              </a:rPr>
              <a:t>•  SOC/SIEM integration (Splunk, ELK)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0B1F3A"/>
                </a:solidFill>
                <a:latin typeface="Calibri"/>
              </a:rPr>
              <a:t>Guiding principle throughout: keep authorization deterministic and auditable — ML and AI only ever inform the strength of the response, never replace the policy decision.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6E7C"/>
                </a:solidFill>
                <a:latin typeface="Calibri"/>
              </a:rPr>
              <a:t>SentinelAI  |  CBS3002 Information Security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14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4D8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Security Platform Beyond Static Authorization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CFDBEE"/>
                </a:solidFill>
                <a:latin typeface="Calibri"/>
              </a:rPr>
              <a:t>“A user having permission does not necessarily mean their current behavior is safe.” Identity + Policy + Context + Behavior + ML → Risk Analysis → Adaptive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B4D8"/>
                </a:solidFill>
                <a:latin typeface="Calibri"/>
              </a:rPr>
              <a:t>MAPS DIRECTLY TO CBS3002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5669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00B4D8"/>
                </a:solidFill>
                <a:latin typeface="Calibri"/>
              </a:rPr>
              <a:t>•  Access control models → RBAC, MAC, ABAC, TBAC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00B4D8"/>
                </a:solidFill>
                <a:latin typeface="Calibri"/>
              </a:rPr>
              <a:t>•  Hybrid policies &amp; composition → Policy Engine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00B4D8"/>
                </a:solidFill>
                <a:latin typeface="Calibri"/>
              </a:rPr>
              <a:t>•  Auditing → Centralized audit logging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00B4D8"/>
                </a:solidFill>
                <a:latin typeface="Calibri"/>
              </a:rPr>
              <a:t>•  Intrusion detection → Behavioral anomaly detection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00B4D8"/>
                </a:solidFill>
                <a:latin typeface="Calibri"/>
              </a:rPr>
              <a:t>•  Database security → PostgreSQL schema &amp; access control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00B4D8"/>
                </a:solidFill>
                <a:latin typeface="Calibri"/>
              </a:rPr>
              <a:t>•  Applied ML → Isolation Forest, precision/recall/F1 evaluated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108960"/>
            <a:ext cx="4663440" cy="2743200"/>
          </a:xfrm>
          <a:prstGeom prst="roundRect">
            <a:avLst>
              <a:gd name="adj" fmla="val 8000"/>
            </a:avLst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400" b="1">
                <a:solidFill>
                  <a:srgbClr val="00B4D8"/>
                </a:solidFill>
                <a:latin typeface="Calibri"/>
              </a:rPr>
              <a:t>Team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Atul Bharadwaj  —  24BBS0007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Mayank Nitin Sarode  —  24BBS0096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  <a:latin typeface="Calibri"/>
              </a:rPr>
              <a:t>Sai Lokesh  —  24BBS0114</a:t>
            </a:r>
          </a:p>
          <a:p>
            <a:pPr>
              <a:spcBef>
                <a:spcPts val="1800"/>
              </a:spcBef>
            </a:pPr>
            <a:r>
              <a:rPr sz="1800" b="1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BB8"/>
                </a:solidFill>
                <a:latin typeface="Calibri"/>
              </a:rPr>
              <a:t>SentinelAI  |  CBS3002 Information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